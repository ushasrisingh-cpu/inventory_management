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Running Tasks</c:v>
                </c:pt>
              </c:strCache>
            </c:strRef>
          </c:tx>
          <c:spPr>
            <a:solidFill>
              <a:srgbClr val="1CA7C9"/>
            </a:solidFill>
            <a:ln w="38100" cap="flat">
              <a:solidFill>
                <a:srgbClr val="1CA7C9"/>
              </a:solidFill>
              <a:prstDash val="solid"/>
              <a:round/>
            </a:ln>
            <a:effectLst/>
          </c:spPr>
          <c:invertIfNegative val="0"/>
          <c:dLbls>
            <c:numFmt formatCode="#,##0" sourceLinked="0"/>
            <c:txPr>
              <a:bodyPr/>
              <a:lstStyle/>
              <a:p>
                <a:pPr>
                  <a:defRPr b="0" i="0" strike="noStrike" sz="1000" u="none">
                    <a:solidFill>
                      <a:srgbClr val="1B2A4A"/>
                    </a:solidFill>
                    <a:latin typeface="Arial"/>
                  </a:defRPr>
                </a:pPr>
              </a:p>
            </c:txPr>
            <c:dLblPos val="t"/>
            <c:showLegendKey val="0"/>
            <c:showVal val="1"/>
            <c:showCatName val="0"/>
            <c:showSerName val="0"/>
            <c:showPercent val="0"/>
            <c:showBubbleSize val="0"/>
            <c:showLeaderLines val="0"/>
          </c:dLbls>
          <c:marker>
            <c:symbol val="circle"/>
            <c:size val="7"/>
            <c:spPr>
              <a:solidFill>
                <a:srgbClr val="1CA7C9"/>
              </a:solidFill>
              <a:ln w="9525" cap="flat">
                <a:solidFill>
                  <a:srgbClr val="1CA7C9"/>
                </a:solidFill>
                <a:prstDash val="solid"/>
                <a:round/>
              </a:ln>
              <a:effectLst/>
            </c:spPr>
          </c:marker>
          <c:cat>
            <c:multiLvlStrRef>
              <c:f>Sheet1!$A$2:$A$8</c:f>
              <c:multiLvlStrCache>
                <c:ptCount val="7"/>
                <c:lvl>
                  <c:pt idx="0">
                    <c:v>T0</c:v>
                  </c:pt>
                  <c:pt idx="1">
                    <c:v>T1</c:v>
                  </c:pt>
                  <c:pt idx="2">
                    <c:v>T2</c:v>
                  </c:pt>
                  <c:pt idx="3">
                    <c:v>T3</c:v>
                  </c:pt>
                  <c:pt idx="4">
                    <c:v>T4</c:v>
                  </c:pt>
                  <c:pt idx="5">
                    <c:v>T5</c:v>
                  </c:pt>
                  <c:pt idx="6">
                    <c:v>T6</c:v>
                  </c:pt>
                </c:lvl>
              </c:multiLvlStrCache>
            </c:multiLvlStrRef>
          </c:cat>
          <c:val>
            <c:numRef>
              <c:f>Sheet1!$B$2:$B$8</c:f>
              <c:numCache>
                <c:formatCode>General</c:formatCode>
                <c:ptCount val="7"/>
                <c:pt idx="0">
                  <c:v>1</c:v>
                </c:pt>
                <c:pt idx="1">
                  <c:v>1</c:v>
                </c:pt>
                <c:pt idx="2">
                  <c:v>2</c:v>
                </c:pt>
                <c:pt idx="3">
                  <c:v>2</c:v>
                </c:pt>
                <c:pt idx="4">
                  <c:v>2</c:v>
                </c:pt>
                <c:pt idx="5">
                  <c:v>1</c:v>
                </c:pt>
                <c:pt idx="6">
                  <c:v>1</c:v>
                </c:pt>
              </c:numCache>
            </c:numRef>
          </c:val>
          <c:smooth val="0"/>
        </c:ser>
        <c:dLbls>
          <c:numFmt formatCode="#,##0" sourceLinked="0"/>
          <c:txPr>
            <a:bodyPr/>
            <a:lstStyle/>
            <a:p>
              <a:pPr>
                <a:defRPr b="0" i="0" strike="noStrike" sz="1000" u="none">
                  <a:solidFill>
                    <a:srgbClr val="1B2A4A"/>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1607A"/>
                </a:solidFill>
                <a:latin typeface="Arial"/>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D9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1607A"/>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yourself: Ushasri D, Group 22, Cloud and DevSecOps Engineer for the Foundation capstone. The project modernizes Acme Retail's Inventory Management System using AI-assisted, specification-driven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Acme Retail's IMS ran on manual provisioning and deployments, with no Infrastructure as Code, inconsistent CI/CD, weak security validation, and thin documentation. The capstone's objective was to replace each gap with a repeatable, automated, and security-validated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a Spring Boot Inventory Management System covering inventory, members, purchase orders, receipts, discounts, recommendations, and sales analysis, paired with an e-checkout capability for the retail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method was specification-driven: analyze the baseline system, author six AI engineering specifications, generate initial artifacts against those specs, then review, secure, validate, and document the outcomes before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tools accelerated application code, Terraform, CI/CD workflows, container manifests, automation scripts, security triage, and documentation — but every suggestion moved through engineer review, local validation, security scanning, test-environment verification, and Git commit before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AI-generated artifact was verified with the same objective gates as any human-written change: Maven tests, Terraform format and validation, Checkov, Trivy, Gitleaks, GitHub Actions CI, AWS runtime health checks, load testing, and backup-and-restore testing. AI accelerated the work; engineers retained control of decisions and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flows from the client through the Application Load Balancer to ECS Fargate running the Spring Boot service, which reads from a private RDS MySQL instance. ECR stores images, Secrets Manager supplies credentials, CloudWatch captures logs and metrics, and GitHub Actions deploys through short-lived AWS OIDC credentials. A persistent, versioned S3 archive holds backups and logs independent of the environment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is organized into reusable modules for networking, compute, data, security, and observability, composed separately for dev, production, and the persistent archive. Dev was applied and torn down after testing; production Terraform was validated but intentionally not applied; the archive keeps independent state so evidence survives teardown.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runs Maven tests and packaging, a Gitleaks secret scan, Terraform format and validation, Checkov policy checks on both Terraform and rendered Kubernetes manifests, a Docker image build, and a Trivy scan that blocks fixable high- and critical-severity findings, with Sonar analysis running conditionally.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triggers only after CI succeeds on master and the DEV_INFRA_ENABLED safety guard is set. GitHub OIDC issues short-lived AWS credentials, the pipeline logs into ECR, tags the image with the commit SHA, registers a new ECS task-definition revision, deploys it, and waits for the service to report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no long-lived AWS keys, least-privilege IAM, a private RDS instance, security-group isolation, Secrets Manager, and encryption at rest and in transit, backed by Gitleaks, Checkov, and Trivy scanning in CI with any accepted findings documented. Production HTTPS remains future work pending a controlled domain for ACM.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ECS service targets 60% CPU utilization with a range of one to two tasks. Under generated load, the service scaled out from one task to two and back to one, confirming both directions. The load test sent 7,507 requests with zero failures at a sustained throughput of 24.76 requests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persistent, independently-stated S3 archive holds backups and logs with public access blocked, AES256 encryption, and versioning. Logs are retained 30 days and portable SQL backups 90 days, produced by a one-off ECS Fargate task. Restore was validated end-to-end: 8 tables, 4 member records, and 8 product records recovered successfully, and application and VPC flow logs survived dev teardown. RDS automated backups remain the primary recovery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trade-offs: ECS Fargate replaced the original EKS proposal to reduce cost and operational complexity for a single service, while Kubernetes and Kustomize were kept for local portability and CI policy scanning rather than cloud deployment. The S3 archive uses independent Terraform state, dev ran over HTTP temporarily pending a production domain and ACM certificate, and backup and log archival remain manually triggered pending scheduling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repeatable, Terraform-defined infrastructure with automated CI/CD, layered security validation, verified health and autoscaling, a tested backup-and-restore process, and evidence that persists after teardown — all built on disciplined review and refinement of AI-generated artifacts rather than blind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work is scoped and intentional: a production domain and HTTPS, a mandatory Sonar quality gate, approved OWASP ZAP dynamic testing, scheduled backup and log archival, a production deployment and recovery drill, and centralized security monitoring. Close by summarizing that the project delivers a secure, automated, evidence-backed foundation ready to extend toward production.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9692640" y="4206240"/>
            <a:ext cx="3291840" cy="3291840"/>
          </a:xfrm>
          <a:prstGeom prst="ellipse">
            <a:avLst/>
          </a:prstGeom>
          <a:solidFill>
            <a:srgbClr val="1E3A5F">
              <a:alpha val="60000"/>
            </a:srgbClr>
          </a:solidFill>
          <a:ln/>
        </p:spPr>
      </p:sp>
      <p:sp>
        <p:nvSpPr>
          <p:cNvPr id="3" name="Shape 1"/>
          <p:cNvSpPr/>
          <p:nvPr/>
        </p:nvSpPr>
        <p:spPr>
          <a:xfrm>
            <a:off x="10607040" y="5120640"/>
            <a:ext cx="2194560" cy="2194560"/>
          </a:xfrm>
          <a:prstGeom prst="ellipse">
            <a:avLst/>
          </a:prstGeom>
          <a:solidFill>
            <a:srgbClr val="2C6E9E">
              <a:alpha val="65000"/>
            </a:srgbClr>
          </a:solidFill>
          <a:ln/>
        </p:spPr>
      </p:sp>
      <p:sp>
        <p:nvSpPr>
          <p:cNvPr id="4" name="Shape 2"/>
          <p:cNvSpPr/>
          <p:nvPr/>
        </p:nvSpPr>
        <p:spPr>
          <a:xfrm>
            <a:off x="11247120" y="5760720"/>
            <a:ext cx="1188720" cy="1188720"/>
          </a:xfrm>
          <a:prstGeom prst="ellipse">
            <a:avLst/>
          </a:prstGeom>
          <a:solidFill>
            <a:srgbClr val="1CA7C9">
              <a:alpha val="75000"/>
            </a:srgbClr>
          </a:solidFill>
          <a:ln/>
        </p:spPr>
      </p:sp>
      <p:sp>
        <p:nvSpPr>
          <p:cNvPr id="5" name="Text 3"/>
          <p:cNvSpPr txBox="1"/>
          <p:nvPr/>
        </p:nvSpPr>
        <p:spPr>
          <a:xfrm>
            <a:off x="548640" y="1371600"/>
            <a:ext cx="8686800" cy="365760"/>
          </a:xfrm>
          <a:prstGeom prst="rect">
            <a:avLst/>
          </a:prstGeom>
          <a:noFill/>
          <a:ln/>
        </p:spPr>
        <p:txBody>
          <a:bodyPr wrap="square" rtlCol="0" anchor="ctr"/>
          <a:lstStyle/>
          <a:p>
            <a:pPr indent="0" marL="0">
              <a:buNone/>
            </a:pPr>
            <a:r>
              <a:rPr lang="en-US" sz="1400" b="1" spc="200" kern="0" dirty="0">
                <a:solidFill>
                  <a:srgbClr val="1CA7C9"/>
                </a:solidFill>
                <a:latin typeface="Calibri" pitchFamily="34" charset="0"/>
                <a:ea typeface="Calibri" pitchFamily="34" charset="-122"/>
                <a:cs typeface="Calibri" pitchFamily="34" charset="-120"/>
              </a:rPr>
              <a:t>FOUNDATION AI-DRIVEN CLOUD &amp; DEVSECOPS CAPSTONE</a:t>
            </a:r>
            <a:endParaRPr lang="en-US" sz="1400" dirty="0"/>
          </a:p>
        </p:txBody>
      </p:sp>
      <p:sp>
        <p:nvSpPr>
          <p:cNvPr id="6" name="Text 4"/>
          <p:cNvSpPr txBox="1"/>
          <p:nvPr/>
        </p:nvSpPr>
        <p:spPr>
          <a:xfrm>
            <a:off x="548640" y="1920240"/>
            <a:ext cx="960120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Inventory Management System
</a:t>
            </a:r>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Cloud &amp; DevSecOps Modernization</a:t>
            </a:r>
            <a:endParaRPr lang="en-US" sz="4000" dirty="0"/>
          </a:p>
        </p:txBody>
      </p:sp>
      <p:sp>
        <p:nvSpPr>
          <p:cNvPr id="7" name="Text 5"/>
          <p:cNvSpPr txBox="1"/>
          <p:nvPr/>
        </p:nvSpPr>
        <p:spPr>
          <a:xfrm>
            <a:off x="548640" y="3794760"/>
            <a:ext cx="7315200" cy="4114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Customer: Acme Retail Ltd.</a:t>
            </a:r>
            <a:endParaRPr lang="en-US" sz="1800" dirty="0"/>
          </a:p>
        </p:txBody>
      </p:sp>
      <p:sp>
        <p:nvSpPr>
          <p:cNvPr id="8" name="Text 6"/>
          <p:cNvSpPr txBox="1"/>
          <p:nvPr/>
        </p:nvSpPr>
        <p:spPr>
          <a:xfrm>
            <a:off x="548640" y="5120640"/>
            <a:ext cx="91440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Ushasri D   •   Group 22   •   Cloud &amp; DevSecOps Engineer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BUSINESS CONTEXT</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Customer Problem &amp; Project Objectives</a:t>
            </a:r>
            <a:endParaRPr lang="en-US" sz="3200" dirty="0"/>
          </a:p>
        </p:txBody>
      </p:sp>
      <p:sp>
        <p:nvSpPr>
          <p:cNvPr id="4" name="Shape 2"/>
          <p:cNvSpPr/>
          <p:nvPr/>
        </p:nvSpPr>
        <p:spPr>
          <a:xfrm>
            <a:off x="548640" y="1600200"/>
            <a:ext cx="5318608" cy="4480560"/>
          </a:xfrm>
          <a:prstGeom prst="roundRect">
            <a:avLst>
              <a:gd name="adj" fmla="val 2041"/>
            </a:avLst>
          </a:prstGeom>
          <a:solidFill>
            <a:srgbClr val="EAF0F8"/>
          </a:solidFill>
          <a:ln/>
        </p:spPr>
      </p:sp>
      <p:sp>
        <p:nvSpPr>
          <p:cNvPr id="5" name="Shape 3"/>
          <p:cNvSpPr/>
          <p:nvPr/>
        </p:nvSpPr>
        <p:spPr>
          <a:xfrm>
            <a:off x="6324448" y="1600200"/>
            <a:ext cx="5318608" cy="4480560"/>
          </a:xfrm>
          <a:prstGeom prst="roundRect">
            <a:avLst>
              <a:gd name="adj" fmla="val 2041"/>
            </a:avLst>
          </a:prstGeom>
          <a:solidFill>
            <a:srgbClr val="EAF0F8"/>
          </a:solidFill>
          <a:ln/>
        </p:spPr>
      </p:sp>
      <p:sp>
        <p:nvSpPr>
          <p:cNvPr id="6" name="Text 4"/>
          <p:cNvSpPr txBox="1"/>
          <p:nvPr/>
        </p:nvSpPr>
        <p:spPr>
          <a:xfrm>
            <a:off x="822960" y="1783080"/>
            <a:ext cx="4769968" cy="320040"/>
          </a:xfrm>
          <a:prstGeom prst="rect">
            <a:avLst/>
          </a:prstGeom>
          <a:noFill/>
          <a:ln/>
        </p:spPr>
        <p:txBody>
          <a:bodyPr wrap="square" rtlCol="0" anchor="ctr"/>
          <a:lstStyle/>
          <a:p>
            <a:pPr indent="0" marL="0">
              <a:buNone/>
            </a:pPr>
            <a:r>
              <a:rPr lang="en-US" sz="1400" b="1" spc="100" kern="0" dirty="0">
                <a:solidFill>
                  <a:srgbClr val="D99A28"/>
                </a:solidFill>
                <a:latin typeface="Calibri" pitchFamily="34" charset="0"/>
                <a:ea typeface="Calibri" pitchFamily="34" charset="-122"/>
                <a:cs typeface="Calibri" pitchFamily="34" charset="-120"/>
              </a:rPr>
              <a:t>CURRENT STATE — CHALLENGES</a:t>
            </a:r>
            <a:endParaRPr lang="en-US" sz="1400" dirty="0"/>
          </a:p>
        </p:txBody>
      </p:sp>
      <p:sp>
        <p:nvSpPr>
          <p:cNvPr id="7" name="Text 5"/>
          <p:cNvSpPr txBox="1"/>
          <p:nvPr/>
        </p:nvSpPr>
        <p:spPr>
          <a:xfrm>
            <a:off x="6598768" y="1783080"/>
            <a:ext cx="4769968" cy="320040"/>
          </a:xfrm>
          <a:prstGeom prst="rect">
            <a:avLst/>
          </a:prstGeom>
          <a:noFill/>
          <a:ln/>
        </p:spPr>
        <p:txBody>
          <a:bodyPr wrap="square" rtlCol="0" anchor="ctr"/>
          <a:lstStyle/>
          <a:p>
            <a:pPr indent="0" marL="0">
              <a:buNone/>
            </a:pPr>
            <a:r>
              <a:rPr lang="en-US" sz="1400" b="1" spc="100" kern="0" dirty="0">
                <a:solidFill>
                  <a:srgbClr val="2BAE66"/>
                </a:solidFill>
                <a:latin typeface="Calibri" pitchFamily="34" charset="0"/>
                <a:ea typeface="Calibri" pitchFamily="34" charset="-122"/>
                <a:cs typeface="Calibri" pitchFamily="34" charset="-120"/>
              </a:rPr>
              <a:t>PROJECT OBJECTIVES</a:t>
            </a:r>
            <a:endParaRPr lang="en-US" sz="1400" dirty="0"/>
          </a:p>
        </p:txBody>
      </p:sp>
      <p:sp>
        <p:nvSpPr>
          <p:cNvPr id="8" name="Shape 6"/>
          <p:cNvSpPr/>
          <p:nvPr/>
        </p:nvSpPr>
        <p:spPr>
          <a:xfrm>
            <a:off x="822960" y="2240280"/>
            <a:ext cx="292608" cy="292608"/>
          </a:xfrm>
          <a:prstGeom prst="ellipse">
            <a:avLst/>
          </a:prstGeom>
          <a:solidFill>
            <a:srgbClr val="D99A28"/>
          </a:solidFill>
          <a:ln/>
        </p:spPr>
      </p:sp>
      <p:sp>
        <p:nvSpPr>
          <p:cNvPr id="9" name="Text 7"/>
          <p:cNvSpPr txBox="1"/>
          <p:nvPr/>
        </p:nvSpPr>
        <p:spPr>
          <a:xfrm>
            <a:off x="822960" y="224028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34440" y="218541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Manual infrastructure provisioning with no repeatable process</a:t>
            </a:r>
            <a:endParaRPr lang="en-US" sz="1300" dirty="0"/>
          </a:p>
        </p:txBody>
      </p:sp>
      <p:sp>
        <p:nvSpPr>
          <p:cNvPr id="11" name="Shape 9"/>
          <p:cNvSpPr/>
          <p:nvPr/>
        </p:nvSpPr>
        <p:spPr>
          <a:xfrm>
            <a:off x="822960" y="2898648"/>
            <a:ext cx="292608" cy="292608"/>
          </a:xfrm>
          <a:prstGeom prst="ellipse">
            <a:avLst/>
          </a:prstGeom>
          <a:solidFill>
            <a:srgbClr val="D99A28"/>
          </a:solidFill>
          <a:ln/>
        </p:spPr>
      </p:sp>
      <p:sp>
        <p:nvSpPr>
          <p:cNvPr id="12" name="Text 10"/>
          <p:cNvSpPr txBox="1"/>
          <p:nvPr/>
        </p:nvSpPr>
        <p:spPr>
          <a:xfrm>
            <a:off x="822960" y="289864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34440" y="2843784"/>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Manual, ad-hoc application deployments</a:t>
            </a:r>
            <a:endParaRPr lang="en-US" sz="1300" dirty="0"/>
          </a:p>
        </p:txBody>
      </p:sp>
      <p:sp>
        <p:nvSpPr>
          <p:cNvPr id="14" name="Shape 12"/>
          <p:cNvSpPr/>
          <p:nvPr/>
        </p:nvSpPr>
        <p:spPr>
          <a:xfrm>
            <a:off x="822960" y="3557016"/>
            <a:ext cx="292608" cy="292608"/>
          </a:xfrm>
          <a:prstGeom prst="ellipse">
            <a:avLst/>
          </a:prstGeom>
          <a:solidFill>
            <a:srgbClr val="D99A28"/>
          </a:solidFill>
          <a:ln/>
        </p:spPr>
      </p:sp>
      <p:sp>
        <p:nvSpPr>
          <p:cNvPr id="15" name="Text 13"/>
          <p:cNvSpPr txBox="1"/>
          <p:nvPr/>
        </p:nvSpPr>
        <p:spPr>
          <a:xfrm>
            <a:off x="822960" y="355701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txBox="1"/>
          <p:nvPr/>
        </p:nvSpPr>
        <p:spPr>
          <a:xfrm>
            <a:off x="1234440" y="3502152"/>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Missing Infrastructure as Code</a:t>
            </a:r>
            <a:endParaRPr lang="en-US" sz="1300" dirty="0"/>
          </a:p>
        </p:txBody>
      </p:sp>
      <p:sp>
        <p:nvSpPr>
          <p:cNvPr id="17" name="Shape 15"/>
          <p:cNvSpPr/>
          <p:nvPr/>
        </p:nvSpPr>
        <p:spPr>
          <a:xfrm>
            <a:off x="822960" y="4215384"/>
            <a:ext cx="292608" cy="292608"/>
          </a:xfrm>
          <a:prstGeom prst="ellipse">
            <a:avLst/>
          </a:prstGeom>
          <a:solidFill>
            <a:srgbClr val="D99A28"/>
          </a:solidFill>
          <a:ln/>
        </p:spPr>
      </p:sp>
      <p:sp>
        <p:nvSpPr>
          <p:cNvPr id="18" name="Text 16"/>
          <p:cNvSpPr txBox="1"/>
          <p:nvPr/>
        </p:nvSpPr>
        <p:spPr>
          <a:xfrm>
            <a:off x="822960" y="421538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1234440" y="4160520"/>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Inconsistent CI/CD across changes</a:t>
            </a:r>
            <a:endParaRPr lang="en-US" sz="1300" dirty="0"/>
          </a:p>
        </p:txBody>
      </p:sp>
      <p:sp>
        <p:nvSpPr>
          <p:cNvPr id="20" name="Shape 18"/>
          <p:cNvSpPr/>
          <p:nvPr/>
        </p:nvSpPr>
        <p:spPr>
          <a:xfrm>
            <a:off x="822960" y="4873752"/>
            <a:ext cx="292608" cy="292608"/>
          </a:xfrm>
          <a:prstGeom prst="ellipse">
            <a:avLst/>
          </a:prstGeom>
          <a:solidFill>
            <a:srgbClr val="D99A28"/>
          </a:solidFill>
          <a:ln/>
        </p:spPr>
      </p:sp>
      <p:sp>
        <p:nvSpPr>
          <p:cNvPr id="21" name="Text 19"/>
          <p:cNvSpPr txBox="1"/>
          <p:nvPr/>
        </p:nvSpPr>
        <p:spPr>
          <a:xfrm>
            <a:off x="822960" y="4873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234440" y="4818888"/>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Weak security validation before release</a:t>
            </a:r>
            <a:endParaRPr lang="en-US" sz="1300" dirty="0"/>
          </a:p>
        </p:txBody>
      </p:sp>
      <p:sp>
        <p:nvSpPr>
          <p:cNvPr id="23" name="Shape 21"/>
          <p:cNvSpPr/>
          <p:nvPr/>
        </p:nvSpPr>
        <p:spPr>
          <a:xfrm>
            <a:off x="822960" y="5532120"/>
            <a:ext cx="292608" cy="292608"/>
          </a:xfrm>
          <a:prstGeom prst="ellipse">
            <a:avLst/>
          </a:prstGeom>
          <a:solidFill>
            <a:srgbClr val="D99A28"/>
          </a:solidFill>
          <a:ln/>
        </p:spPr>
      </p:sp>
      <p:sp>
        <p:nvSpPr>
          <p:cNvPr id="24" name="Text 22"/>
          <p:cNvSpPr txBox="1"/>
          <p:nvPr/>
        </p:nvSpPr>
        <p:spPr>
          <a:xfrm>
            <a:off x="822960" y="55321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1234440" y="547725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Poor documentation of architecture and decisions</a:t>
            </a:r>
            <a:endParaRPr lang="en-US" sz="1300" dirty="0"/>
          </a:p>
        </p:txBody>
      </p:sp>
      <p:sp>
        <p:nvSpPr>
          <p:cNvPr id="26" name="Shape 24"/>
          <p:cNvSpPr/>
          <p:nvPr/>
        </p:nvSpPr>
        <p:spPr>
          <a:xfrm>
            <a:off x="6598768" y="2240280"/>
            <a:ext cx="292608" cy="292608"/>
          </a:xfrm>
          <a:prstGeom prst="ellipse">
            <a:avLst/>
          </a:prstGeom>
          <a:solidFill>
            <a:srgbClr val="2BAE66"/>
          </a:solidFill>
          <a:ln/>
        </p:spPr>
      </p:sp>
      <p:sp>
        <p:nvSpPr>
          <p:cNvPr id="27" name="Text 25"/>
          <p:cNvSpPr txBox="1"/>
          <p:nvPr/>
        </p:nvSpPr>
        <p:spPr>
          <a:xfrm>
            <a:off x="6598768" y="224028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7010248" y="218541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Repeatable, modular Terraform-based infrastructure</a:t>
            </a:r>
            <a:endParaRPr lang="en-US" sz="1300" dirty="0"/>
          </a:p>
        </p:txBody>
      </p:sp>
      <p:sp>
        <p:nvSpPr>
          <p:cNvPr id="29" name="Shape 27"/>
          <p:cNvSpPr/>
          <p:nvPr/>
        </p:nvSpPr>
        <p:spPr>
          <a:xfrm>
            <a:off x="6598768" y="2898648"/>
            <a:ext cx="292608" cy="292608"/>
          </a:xfrm>
          <a:prstGeom prst="ellipse">
            <a:avLst/>
          </a:prstGeom>
          <a:solidFill>
            <a:srgbClr val="2BAE66"/>
          </a:solidFill>
          <a:ln/>
        </p:spPr>
      </p:sp>
      <p:sp>
        <p:nvSpPr>
          <p:cNvPr id="30" name="Text 28"/>
          <p:cNvSpPr txBox="1"/>
          <p:nvPr/>
        </p:nvSpPr>
        <p:spPr>
          <a:xfrm>
            <a:off x="6598768" y="289864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7010248" y="2843784"/>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Automated, consistent deployment pipeline</a:t>
            </a:r>
            <a:endParaRPr lang="en-US" sz="1300" dirty="0"/>
          </a:p>
        </p:txBody>
      </p:sp>
      <p:sp>
        <p:nvSpPr>
          <p:cNvPr id="32" name="Shape 30"/>
          <p:cNvSpPr/>
          <p:nvPr/>
        </p:nvSpPr>
        <p:spPr>
          <a:xfrm>
            <a:off x="6598768" y="3557016"/>
            <a:ext cx="292608" cy="292608"/>
          </a:xfrm>
          <a:prstGeom prst="ellipse">
            <a:avLst/>
          </a:prstGeom>
          <a:solidFill>
            <a:srgbClr val="2BAE66"/>
          </a:solidFill>
          <a:ln/>
        </p:spPr>
      </p:sp>
      <p:sp>
        <p:nvSpPr>
          <p:cNvPr id="33" name="Text 31"/>
          <p:cNvSpPr txBox="1"/>
          <p:nvPr/>
        </p:nvSpPr>
        <p:spPr>
          <a:xfrm>
            <a:off x="6598768" y="355701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7010248" y="3502152"/>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Full Infrastructure-as-Code coverage</a:t>
            </a:r>
            <a:endParaRPr lang="en-US" sz="1300" dirty="0"/>
          </a:p>
        </p:txBody>
      </p:sp>
      <p:sp>
        <p:nvSpPr>
          <p:cNvPr id="35" name="Shape 33"/>
          <p:cNvSpPr/>
          <p:nvPr/>
        </p:nvSpPr>
        <p:spPr>
          <a:xfrm>
            <a:off x="6598768" y="4215384"/>
            <a:ext cx="292608" cy="292608"/>
          </a:xfrm>
          <a:prstGeom prst="ellipse">
            <a:avLst/>
          </a:prstGeom>
          <a:solidFill>
            <a:srgbClr val="2BAE66"/>
          </a:solidFill>
          <a:ln/>
        </p:spPr>
      </p:sp>
      <p:sp>
        <p:nvSpPr>
          <p:cNvPr id="36" name="Text 34"/>
          <p:cNvSpPr txBox="1"/>
          <p:nvPr/>
        </p:nvSpPr>
        <p:spPr>
          <a:xfrm>
            <a:off x="6598768" y="421538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txBox="1"/>
          <p:nvPr/>
        </p:nvSpPr>
        <p:spPr>
          <a:xfrm>
            <a:off x="7010248" y="4160520"/>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Standardized CI/CD for every change</a:t>
            </a:r>
            <a:endParaRPr lang="en-US" sz="1300" dirty="0"/>
          </a:p>
        </p:txBody>
      </p:sp>
      <p:sp>
        <p:nvSpPr>
          <p:cNvPr id="38" name="Shape 36"/>
          <p:cNvSpPr/>
          <p:nvPr/>
        </p:nvSpPr>
        <p:spPr>
          <a:xfrm>
            <a:off x="6598768" y="4873752"/>
            <a:ext cx="292608" cy="292608"/>
          </a:xfrm>
          <a:prstGeom prst="ellipse">
            <a:avLst/>
          </a:prstGeom>
          <a:solidFill>
            <a:srgbClr val="2BAE66"/>
          </a:solidFill>
          <a:ln/>
        </p:spPr>
      </p:sp>
      <p:sp>
        <p:nvSpPr>
          <p:cNvPr id="39" name="Text 37"/>
          <p:cNvSpPr txBox="1"/>
          <p:nvPr/>
        </p:nvSpPr>
        <p:spPr>
          <a:xfrm>
            <a:off x="6598768" y="4873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0" name="Text 38"/>
          <p:cNvSpPr txBox="1"/>
          <p:nvPr/>
        </p:nvSpPr>
        <p:spPr>
          <a:xfrm>
            <a:off x="7010248" y="4818888"/>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Layered, automated security scanning gates</a:t>
            </a:r>
            <a:endParaRPr lang="en-US" sz="1300" dirty="0"/>
          </a:p>
        </p:txBody>
      </p:sp>
      <p:sp>
        <p:nvSpPr>
          <p:cNvPr id="41" name="Shape 39"/>
          <p:cNvSpPr/>
          <p:nvPr/>
        </p:nvSpPr>
        <p:spPr>
          <a:xfrm>
            <a:off x="6598768" y="5532120"/>
            <a:ext cx="292608" cy="292608"/>
          </a:xfrm>
          <a:prstGeom prst="ellipse">
            <a:avLst/>
          </a:prstGeom>
          <a:solidFill>
            <a:srgbClr val="2BAE66"/>
          </a:solidFill>
          <a:ln/>
        </p:spPr>
      </p:sp>
      <p:sp>
        <p:nvSpPr>
          <p:cNvPr id="42" name="Text 40"/>
          <p:cNvSpPr txBox="1"/>
          <p:nvPr/>
        </p:nvSpPr>
        <p:spPr>
          <a:xfrm>
            <a:off x="6598768" y="55321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3" name="Text 41"/>
          <p:cNvSpPr txBox="1"/>
          <p:nvPr/>
        </p:nvSpPr>
        <p:spPr>
          <a:xfrm>
            <a:off x="7010248" y="547725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Clear specs, diagrams, and decision records</a:t>
            </a:r>
            <a:endParaRPr lang="en-US" sz="1300" dirty="0"/>
          </a:p>
        </p:txBody>
      </p:sp>
      <p:sp>
        <p:nvSpPr>
          <p:cNvPr id="44" name="Text 4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THE APPLICATION</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Application Overview — Spring Boot IMS &amp; E-Checkout</a:t>
            </a:r>
            <a:endParaRPr lang="en-US" sz="3200" dirty="0"/>
          </a:p>
        </p:txBody>
      </p:sp>
      <p:sp>
        <p:nvSpPr>
          <p:cNvPr id="4" name="Shape 2"/>
          <p:cNvSpPr/>
          <p:nvPr/>
        </p:nvSpPr>
        <p:spPr>
          <a:xfrm>
            <a:off x="548640" y="1691640"/>
            <a:ext cx="2602154" cy="1965960"/>
          </a:xfrm>
          <a:prstGeom prst="roundRect">
            <a:avLst>
              <a:gd name="adj" fmla="val 4651"/>
            </a:avLst>
          </a:prstGeom>
          <a:solidFill>
            <a:srgbClr val="EAF0F8"/>
          </a:solidFill>
          <a:ln/>
        </p:spPr>
      </p:sp>
      <p:sp>
        <p:nvSpPr>
          <p:cNvPr id="5" name="Shape 3"/>
          <p:cNvSpPr/>
          <p:nvPr/>
        </p:nvSpPr>
        <p:spPr>
          <a:xfrm>
            <a:off x="1529677" y="1920240"/>
            <a:ext cx="640080" cy="640080"/>
          </a:xfrm>
          <a:prstGeom prst="ellipse">
            <a:avLst/>
          </a:prstGeom>
          <a:solidFill>
            <a:srgbClr val="2C6E9E"/>
          </a:solidFill>
          <a:ln/>
        </p:spPr>
      </p:sp>
      <p:sp>
        <p:nvSpPr>
          <p:cNvPr id="6" name="Text 4"/>
          <p:cNvSpPr txBox="1"/>
          <p:nvPr/>
        </p:nvSpPr>
        <p:spPr>
          <a:xfrm>
            <a:off x="1529677"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INV</a:t>
            </a:r>
            <a:endParaRPr lang="en-US" sz="1200" dirty="0"/>
          </a:p>
        </p:txBody>
      </p:sp>
      <p:sp>
        <p:nvSpPr>
          <p:cNvPr id="7" name="Text 5"/>
          <p:cNvSpPr txBox="1"/>
          <p:nvPr/>
        </p:nvSpPr>
        <p:spPr>
          <a:xfrm>
            <a:off x="640080"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Inventory</a:t>
            </a:r>
            <a:endParaRPr lang="en-US" sz="1300" dirty="0"/>
          </a:p>
        </p:txBody>
      </p:sp>
      <p:sp>
        <p:nvSpPr>
          <p:cNvPr id="8" name="Text 6"/>
          <p:cNvSpPr txBox="1"/>
          <p:nvPr/>
        </p:nvSpPr>
        <p:spPr>
          <a:xfrm>
            <a:off x="685800"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Stock levels and item catalog</a:t>
            </a:r>
            <a:endParaRPr lang="en-US" sz="1050" dirty="0"/>
          </a:p>
        </p:txBody>
      </p:sp>
      <p:sp>
        <p:nvSpPr>
          <p:cNvPr id="9" name="Shape 7"/>
          <p:cNvSpPr/>
          <p:nvPr/>
        </p:nvSpPr>
        <p:spPr>
          <a:xfrm>
            <a:off x="3379394" y="1691640"/>
            <a:ext cx="2602154" cy="1965960"/>
          </a:xfrm>
          <a:prstGeom prst="roundRect">
            <a:avLst>
              <a:gd name="adj" fmla="val 4651"/>
            </a:avLst>
          </a:prstGeom>
          <a:solidFill>
            <a:srgbClr val="EAF0F8"/>
          </a:solidFill>
          <a:ln/>
        </p:spPr>
      </p:sp>
      <p:sp>
        <p:nvSpPr>
          <p:cNvPr id="10" name="Shape 8"/>
          <p:cNvSpPr/>
          <p:nvPr/>
        </p:nvSpPr>
        <p:spPr>
          <a:xfrm>
            <a:off x="4360431" y="1920240"/>
            <a:ext cx="640080" cy="640080"/>
          </a:xfrm>
          <a:prstGeom prst="ellipse">
            <a:avLst/>
          </a:prstGeom>
          <a:solidFill>
            <a:srgbClr val="1CA7C9"/>
          </a:solidFill>
          <a:ln/>
        </p:spPr>
      </p:sp>
      <p:sp>
        <p:nvSpPr>
          <p:cNvPr id="11" name="Text 9"/>
          <p:cNvSpPr txBox="1"/>
          <p:nvPr/>
        </p:nvSpPr>
        <p:spPr>
          <a:xfrm>
            <a:off x="4360431"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a:t>
            </a:r>
            <a:endParaRPr lang="en-US" sz="1200" dirty="0"/>
          </a:p>
        </p:txBody>
      </p:sp>
      <p:sp>
        <p:nvSpPr>
          <p:cNvPr id="12" name="Text 10"/>
          <p:cNvSpPr txBox="1"/>
          <p:nvPr/>
        </p:nvSpPr>
        <p:spPr>
          <a:xfrm>
            <a:off x="3470834"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Members</a:t>
            </a:r>
            <a:endParaRPr lang="en-US" sz="1300" dirty="0"/>
          </a:p>
        </p:txBody>
      </p:sp>
      <p:sp>
        <p:nvSpPr>
          <p:cNvPr id="13" name="Text 11"/>
          <p:cNvSpPr txBox="1"/>
          <p:nvPr/>
        </p:nvSpPr>
        <p:spPr>
          <a:xfrm>
            <a:off x="3516554"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Member accounts and profiles</a:t>
            </a:r>
            <a:endParaRPr lang="en-US" sz="1050" dirty="0"/>
          </a:p>
        </p:txBody>
      </p:sp>
      <p:sp>
        <p:nvSpPr>
          <p:cNvPr id="14" name="Shape 12"/>
          <p:cNvSpPr/>
          <p:nvPr/>
        </p:nvSpPr>
        <p:spPr>
          <a:xfrm>
            <a:off x="6210148" y="1691640"/>
            <a:ext cx="2602154" cy="1965960"/>
          </a:xfrm>
          <a:prstGeom prst="roundRect">
            <a:avLst>
              <a:gd name="adj" fmla="val 4651"/>
            </a:avLst>
          </a:prstGeom>
          <a:solidFill>
            <a:srgbClr val="EAF0F8"/>
          </a:solidFill>
          <a:ln/>
        </p:spPr>
      </p:sp>
      <p:sp>
        <p:nvSpPr>
          <p:cNvPr id="15" name="Shape 13"/>
          <p:cNvSpPr/>
          <p:nvPr/>
        </p:nvSpPr>
        <p:spPr>
          <a:xfrm>
            <a:off x="7191185" y="1920240"/>
            <a:ext cx="640080" cy="640080"/>
          </a:xfrm>
          <a:prstGeom prst="ellipse">
            <a:avLst/>
          </a:prstGeom>
          <a:solidFill>
            <a:srgbClr val="2BAE66"/>
          </a:solidFill>
          <a:ln/>
        </p:spPr>
      </p:sp>
      <p:sp>
        <p:nvSpPr>
          <p:cNvPr id="16" name="Text 14"/>
          <p:cNvSpPr txBox="1"/>
          <p:nvPr/>
        </p:nvSpPr>
        <p:spPr>
          <a:xfrm>
            <a:off x="7191185"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a:t>
            </a:r>
            <a:endParaRPr lang="en-US" sz="1200" dirty="0"/>
          </a:p>
        </p:txBody>
      </p:sp>
      <p:sp>
        <p:nvSpPr>
          <p:cNvPr id="17" name="Text 15"/>
          <p:cNvSpPr txBox="1"/>
          <p:nvPr/>
        </p:nvSpPr>
        <p:spPr>
          <a:xfrm>
            <a:off x="6301588"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Purchase Orders</a:t>
            </a:r>
            <a:endParaRPr lang="en-US" sz="1300" dirty="0"/>
          </a:p>
        </p:txBody>
      </p:sp>
      <p:sp>
        <p:nvSpPr>
          <p:cNvPr id="18" name="Text 16"/>
          <p:cNvSpPr txBox="1"/>
          <p:nvPr/>
        </p:nvSpPr>
        <p:spPr>
          <a:xfrm>
            <a:off x="6347308"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Supplier ordering workflow</a:t>
            </a:r>
            <a:endParaRPr lang="en-US" sz="1050" dirty="0"/>
          </a:p>
        </p:txBody>
      </p:sp>
      <p:sp>
        <p:nvSpPr>
          <p:cNvPr id="19" name="Shape 17"/>
          <p:cNvSpPr/>
          <p:nvPr/>
        </p:nvSpPr>
        <p:spPr>
          <a:xfrm>
            <a:off x="9040901" y="1691640"/>
            <a:ext cx="2602154" cy="1965960"/>
          </a:xfrm>
          <a:prstGeom prst="roundRect">
            <a:avLst>
              <a:gd name="adj" fmla="val 4651"/>
            </a:avLst>
          </a:prstGeom>
          <a:solidFill>
            <a:srgbClr val="EAF0F8"/>
          </a:solidFill>
          <a:ln/>
        </p:spPr>
      </p:sp>
      <p:sp>
        <p:nvSpPr>
          <p:cNvPr id="20" name="Shape 18"/>
          <p:cNvSpPr/>
          <p:nvPr/>
        </p:nvSpPr>
        <p:spPr>
          <a:xfrm>
            <a:off x="10021938" y="1920240"/>
            <a:ext cx="640080" cy="640080"/>
          </a:xfrm>
          <a:prstGeom prst="ellipse">
            <a:avLst/>
          </a:prstGeom>
          <a:solidFill>
            <a:srgbClr val="1E3A5F"/>
          </a:solidFill>
          <a:ln/>
        </p:spPr>
      </p:sp>
      <p:sp>
        <p:nvSpPr>
          <p:cNvPr id="21" name="Text 19"/>
          <p:cNvSpPr txBox="1"/>
          <p:nvPr/>
        </p:nvSpPr>
        <p:spPr>
          <a:xfrm>
            <a:off x="10021938"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RCT</a:t>
            </a:r>
            <a:endParaRPr lang="en-US" sz="1200" dirty="0"/>
          </a:p>
        </p:txBody>
      </p:sp>
      <p:sp>
        <p:nvSpPr>
          <p:cNvPr id="22" name="Text 20"/>
          <p:cNvSpPr txBox="1"/>
          <p:nvPr/>
        </p:nvSpPr>
        <p:spPr>
          <a:xfrm>
            <a:off x="9132341"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Receipts</a:t>
            </a:r>
            <a:endParaRPr lang="en-US" sz="1300" dirty="0"/>
          </a:p>
        </p:txBody>
      </p:sp>
      <p:sp>
        <p:nvSpPr>
          <p:cNvPr id="23" name="Text 21"/>
          <p:cNvSpPr txBox="1"/>
          <p:nvPr/>
        </p:nvSpPr>
        <p:spPr>
          <a:xfrm>
            <a:off x="9178061"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Transaction receipts</a:t>
            </a:r>
            <a:endParaRPr lang="en-US" sz="1050" dirty="0"/>
          </a:p>
        </p:txBody>
      </p:sp>
      <p:sp>
        <p:nvSpPr>
          <p:cNvPr id="24" name="Shape 22"/>
          <p:cNvSpPr/>
          <p:nvPr/>
        </p:nvSpPr>
        <p:spPr>
          <a:xfrm>
            <a:off x="548640" y="3886200"/>
            <a:ext cx="2602154" cy="1965960"/>
          </a:xfrm>
          <a:prstGeom prst="roundRect">
            <a:avLst>
              <a:gd name="adj" fmla="val 4651"/>
            </a:avLst>
          </a:prstGeom>
          <a:solidFill>
            <a:srgbClr val="EAF0F8"/>
          </a:solidFill>
          <a:ln/>
        </p:spPr>
      </p:sp>
      <p:sp>
        <p:nvSpPr>
          <p:cNvPr id="25" name="Shape 23"/>
          <p:cNvSpPr/>
          <p:nvPr/>
        </p:nvSpPr>
        <p:spPr>
          <a:xfrm>
            <a:off x="1529677" y="4114800"/>
            <a:ext cx="640080" cy="640080"/>
          </a:xfrm>
          <a:prstGeom prst="ellipse">
            <a:avLst/>
          </a:prstGeom>
          <a:solidFill>
            <a:srgbClr val="2C6E9E"/>
          </a:solidFill>
          <a:ln/>
        </p:spPr>
      </p:sp>
      <p:sp>
        <p:nvSpPr>
          <p:cNvPr id="26" name="Text 24"/>
          <p:cNvSpPr txBox="1"/>
          <p:nvPr/>
        </p:nvSpPr>
        <p:spPr>
          <a:xfrm>
            <a:off x="1529677"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DSC</a:t>
            </a:r>
            <a:endParaRPr lang="en-US" sz="1200" dirty="0"/>
          </a:p>
        </p:txBody>
      </p:sp>
      <p:sp>
        <p:nvSpPr>
          <p:cNvPr id="27" name="Text 25"/>
          <p:cNvSpPr txBox="1"/>
          <p:nvPr/>
        </p:nvSpPr>
        <p:spPr>
          <a:xfrm>
            <a:off x="640080"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Discounts</a:t>
            </a:r>
            <a:endParaRPr lang="en-US" sz="1300" dirty="0"/>
          </a:p>
        </p:txBody>
      </p:sp>
      <p:sp>
        <p:nvSpPr>
          <p:cNvPr id="28" name="Text 26"/>
          <p:cNvSpPr txBox="1"/>
          <p:nvPr/>
        </p:nvSpPr>
        <p:spPr>
          <a:xfrm>
            <a:off x="685800"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Promotions and pricing rules</a:t>
            </a:r>
            <a:endParaRPr lang="en-US" sz="1050" dirty="0"/>
          </a:p>
        </p:txBody>
      </p:sp>
      <p:sp>
        <p:nvSpPr>
          <p:cNvPr id="29" name="Shape 27"/>
          <p:cNvSpPr/>
          <p:nvPr/>
        </p:nvSpPr>
        <p:spPr>
          <a:xfrm>
            <a:off x="3379394" y="3886200"/>
            <a:ext cx="2602154" cy="1965960"/>
          </a:xfrm>
          <a:prstGeom prst="roundRect">
            <a:avLst>
              <a:gd name="adj" fmla="val 4651"/>
            </a:avLst>
          </a:prstGeom>
          <a:solidFill>
            <a:srgbClr val="EAF0F8"/>
          </a:solidFill>
          <a:ln/>
        </p:spPr>
      </p:sp>
      <p:sp>
        <p:nvSpPr>
          <p:cNvPr id="30" name="Shape 28"/>
          <p:cNvSpPr/>
          <p:nvPr/>
        </p:nvSpPr>
        <p:spPr>
          <a:xfrm>
            <a:off x="4360431" y="4114800"/>
            <a:ext cx="640080" cy="640080"/>
          </a:xfrm>
          <a:prstGeom prst="ellipse">
            <a:avLst/>
          </a:prstGeom>
          <a:solidFill>
            <a:srgbClr val="1CA7C9"/>
          </a:solidFill>
          <a:ln/>
        </p:spPr>
      </p:sp>
      <p:sp>
        <p:nvSpPr>
          <p:cNvPr id="31" name="Text 29"/>
          <p:cNvSpPr txBox="1"/>
          <p:nvPr/>
        </p:nvSpPr>
        <p:spPr>
          <a:xfrm>
            <a:off x="4360431"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a:t>
            </a:r>
            <a:endParaRPr lang="en-US" sz="1200" dirty="0"/>
          </a:p>
        </p:txBody>
      </p:sp>
      <p:sp>
        <p:nvSpPr>
          <p:cNvPr id="32" name="Text 30"/>
          <p:cNvSpPr txBox="1"/>
          <p:nvPr/>
        </p:nvSpPr>
        <p:spPr>
          <a:xfrm>
            <a:off x="3470834"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Recommendations</a:t>
            </a:r>
            <a:endParaRPr lang="en-US" sz="1300" dirty="0"/>
          </a:p>
        </p:txBody>
      </p:sp>
      <p:sp>
        <p:nvSpPr>
          <p:cNvPr id="33" name="Text 31"/>
          <p:cNvSpPr txBox="1"/>
          <p:nvPr/>
        </p:nvSpPr>
        <p:spPr>
          <a:xfrm>
            <a:off x="3516554"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Product recommendations</a:t>
            </a:r>
            <a:endParaRPr lang="en-US" sz="1050" dirty="0"/>
          </a:p>
        </p:txBody>
      </p:sp>
      <p:sp>
        <p:nvSpPr>
          <p:cNvPr id="34" name="Shape 32"/>
          <p:cNvSpPr/>
          <p:nvPr/>
        </p:nvSpPr>
        <p:spPr>
          <a:xfrm>
            <a:off x="6210148" y="3886200"/>
            <a:ext cx="2602154" cy="1965960"/>
          </a:xfrm>
          <a:prstGeom prst="roundRect">
            <a:avLst>
              <a:gd name="adj" fmla="val 4651"/>
            </a:avLst>
          </a:prstGeom>
          <a:solidFill>
            <a:srgbClr val="EAF0F8"/>
          </a:solidFill>
          <a:ln/>
        </p:spPr>
      </p:sp>
      <p:sp>
        <p:nvSpPr>
          <p:cNvPr id="35" name="Shape 33"/>
          <p:cNvSpPr/>
          <p:nvPr/>
        </p:nvSpPr>
        <p:spPr>
          <a:xfrm>
            <a:off x="7191185" y="4114800"/>
            <a:ext cx="640080" cy="640080"/>
          </a:xfrm>
          <a:prstGeom prst="ellipse">
            <a:avLst/>
          </a:prstGeom>
          <a:solidFill>
            <a:srgbClr val="2BAE66"/>
          </a:solidFill>
          <a:ln/>
        </p:spPr>
      </p:sp>
      <p:sp>
        <p:nvSpPr>
          <p:cNvPr id="36" name="Text 34"/>
          <p:cNvSpPr txBox="1"/>
          <p:nvPr/>
        </p:nvSpPr>
        <p:spPr>
          <a:xfrm>
            <a:off x="7191185"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SLS</a:t>
            </a:r>
            <a:endParaRPr lang="en-US" sz="1200" dirty="0"/>
          </a:p>
        </p:txBody>
      </p:sp>
      <p:sp>
        <p:nvSpPr>
          <p:cNvPr id="37" name="Text 35"/>
          <p:cNvSpPr txBox="1"/>
          <p:nvPr/>
        </p:nvSpPr>
        <p:spPr>
          <a:xfrm>
            <a:off x="6301588"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Sales Analysis</a:t>
            </a:r>
            <a:endParaRPr lang="en-US" sz="1300" dirty="0"/>
          </a:p>
        </p:txBody>
      </p:sp>
      <p:sp>
        <p:nvSpPr>
          <p:cNvPr id="38" name="Text 36"/>
          <p:cNvSpPr txBox="1"/>
          <p:nvPr/>
        </p:nvSpPr>
        <p:spPr>
          <a:xfrm>
            <a:off x="6347308"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Sales reporting and trends</a:t>
            </a:r>
            <a:endParaRPr lang="en-US" sz="1050" dirty="0"/>
          </a:p>
        </p:txBody>
      </p:sp>
      <p:sp>
        <p:nvSpPr>
          <p:cNvPr id="39" name="Shape 37"/>
          <p:cNvSpPr/>
          <p:nvPr/>
        </p:nvSpPr>
        <p:spPr>
          <a:xfrm>
            <a:off x="9040901" y="3886200"/>
            <a:ext cx="2602154" cy="1965960"/>
          </a:xfrm>
          <a:prstGeom prst="roundRect">
            <a:avLst>
              <a:gd name="adj" fmla="val 4651"/>
            </a:avLst>
          </a:prstGeom>
          <a:solidFill>
            <a:srgbClr val="EAF0F8"/>
          </a:solidFill>
          <a:ln/>
        </p:spPr>
      </p:sp>
      <p:sp>
        <p:nvSpPr>
          <p:cNvPr id="40" name="Shape 38"/>
          <p:cNvSpPr/>
          <p:nvPr/>
        </p:nvSpPr>
        <p:spPr>
          <a:xfrm>
            <a:off x="10021938" y="4114800"/>
            <a:ext cx="640080" cy="640080"/>
          </a:xfrm>
          <a:prstGeom prst="ellipse">
            <a:avLst/>
          </a:prstGeom>
          <a:solidFill>
            <a:srgbClr val="1E3A5F"/>
          </a:solidFill>
          <a:ln/>
        </p:spPr>
      </p:sp>
      <p:sp>
        <p:nvSpPr>
          <p:cNvPr id="41" name="Text 39"/>
          <p:cNvSpPr txBox="1"/>
          <p:nvPr/>
        </p:nvSpPr>
        <p:spPr>
          <a:xfrm>
            <a:off x="10021938"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CHK</a:t>
            </a:r>
            <a:endParaRPr lang="en-US" sz="1200" dirty="0"/>
          </a:p>
        </p:txBody>
      </p:sp>
      <p:sp>
        <p:nvSpPr>
          <p:cNvPr id="42" name="Text 40"/>
          <p:cNvSpPr txBox="1"/>
          <p:nvPr/>
        </p:nvSpPr>
        <p:spPr>
          <a:xfrm>
            <a:off x="9132341"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E-Checkout</a:t>
            </a:r>
            <a:endParaRPr lang="en-US" sz="1300" dirty="0"/>
          </a:p>
        </p:txBody>
      </p:sp>
      <p:sp>
        <p:nvSpPr>
          <p:cNvPr id="43" name="Text 41"/>
          <p:cNvSpPr txBox="1"/>
          <p:nvPr/>
        </p:nvSpPr>
        <p:spPr>
          <a:xfrm>
            <a:off x="9178061"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End-to-end checkout flow</a:t>
            </a:r>
            <a:endParaRPr lang="en-US" sz="1050" dirty="0"/>
          </a:p>
        </p:txBody>
      </p:sp>
      <p:sp>
        <p:nvSpPr>
          <p:cNvPr id="44" name="Text 4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AI Engineering Specifications &amp; Methodology</a:t>
            </a:r>
            <a:endParaRPr lang="en-US" sz="3200" dirty="0"/>
          </a:p>
        </p:txBody>
      </p:sp>
      <p:sp>
        <p:nvSpPr>
          <p:cNvPr id="4" name="Shape 2"/>
          <p:cNvSpPr/>
          <p:nvPr/>
        </p:nvSpPr>
        <p:spPr>
          <a:xfrm>
            <a:off x="548640" y="1920240"/>
            <a:ext cx="685800" cy="685800"/>
          </a:xfrm>
          <a:prstGeom prst="ellipse">
            <a:avLst/>
          </a:prstGeom>
          <a:solidFill>
            <a:srgbClr val="1E3A5F"/>
          </a:solidFill>
          <a:ln/>
        </p:spPr>
      </p:sp>
      <p:sp>
        <p:nvSpPr>
          <p:cNvPr id="5" name="Text 3"/>
          <p:cNvSpPr txBox="1"/>
          <p:nvPr/>
        </p:nvSpPr>
        <p:spPr>
          <a:xfrm>
            <a:off x="54864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205740"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Analyze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Baseline</a:t>
            </a:r>
            <a:endParaRPr lang="en-US" sz="1050" dirty="0"/>
          </a:p>
        </p:txBody>
      </p:sp>
      <p:sp>
        <p:nvSpPr>
          <p:cNvPr id="7" name="Shape 5"/>
          <p:cNvSpPr/>
          <p:nvPr/>
        </p:nvSpPr>
        <p:spPr>
          <a:xfrm>
            <a:off x="1307592" y="2263140"/>
            <a:ext cx="1249619" cy="0"/>
          </a:xfrm>
          <a:prstGeom prst="line">
            <a:avLst/>
          </a:prstGeom>
          <a:noFill/>
          <a:ln w="19050">
            <a:solidFill>
              <a:srgbClr val="51607A"/>
            </a:solidFill>
            <a:prstDash val="solid"/>
            <a:tailEnd type="triangle"/>
          </a:ln>
        </p:spPr>
      </p:sp>
      <p:sp>
        <p:nvSpPr>
          <p:cNvPr id="8" name="Shape 6"/>
          <p:cNvSpPr/>
          <p:nvPr/>
        </p:nvSpPr>
        <p:spPr>
          <a:xfrm>
            <a:off x="2630363" y="1920240"/>
            <a:ext cx="685800" cy="685800"/>
          </a:xfrm>
          <a:prstGeom prst="ellipse">
            <a:avLst/>
          </a:prstGeom>
          <a:solidFill>
            <a:srgbClr val="1E3A5F"/>
          </a:solidFill>
          <a:ln/>
        </p:spPr>
      </p:sp>
      <p:sp>
        <p:nvSpPr>
          <p:cNvPr id="9" name="Text 7"/>
          <p:cNvSpPr txBox="1"/>
          <p:nvPr/>
        </p:nvSpPr>
        <p:spPr>
          <a:xfrm>
            <a:off x="2630363"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287463"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Create 6 AI</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Specifications</a:t>
            </a:r>
            <a:endParaRPr lang="en-US" sz="1050" dirty="0"/>
          </a:p>
        </p:txBody>
      </p:sp>
      <p:sp>
        <p:nvSpPr>
          <p:cNvPr id="11" name="Shape 9"/>
          <p:cNvSpPr/>
          <p:nvPr/>
        </p:nvSpPr>
        <p:spPr>
          <a:xfrm>
            <a:off x="3389315" y="2263140"/>
            <a:ext cx="1249619" cy="0"/>
          </a:xfrm>
          <a:prstGeom prst="line">
            <a:avLst/>
          </a:prstGeom>
          <a:noFill/>
          <a:ln w="19050">
            <a:solidFill>
              <a:srgbClr val="51607A"/>
            </a:solidFill>
            <a:prstDash val="solid"/>
            <a:tailEnd type="triangle"/>
          </a:ln>
        </p:spPr>
      </p:sp>
      <p:sp>
        <p:nvSpPr>
          <p:cNvPr id="12" name="Shape 10"/>
          <p:cNvSpPr/>
          <p:nvPr/>
        </p:nvSpPr>
        <p:spPr>
          <a:xfrm>
            <a:off x="4712086" y="1920240"/>
            <a:ext cx="685800" cy="685800"/>
          </a:xfrm>
          <a:prstGeom prst="ellipse">
            <a:avLst/>
          </a:prstGeom>
          <a:solidFill>
            <a:srgbClr val="1E3A5F"/>
          </a:solidFill>
          <a:ln/>
        </p:spPr>
      </p:sp>
      <p:sp>
        <p:nvSpPr>
          <p:cNvPr id="13" name="Text 11"/>
          <p:cNvSpPr txBox="1"/>
          <p:nvPr/>
        </p:nvSpPr>
        <p:spPr>
          <a:xfrm>
            <a:off x="4712086"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4369186"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Generate Initial</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Artifacts</a:t>
            </a:r>
            <a:endParaRPr lang="en-US" sz="1050" dirty="0"/>
          </a:p>
        </p:txBody>
      </p:sp>
      <p:sp>
        <p:nvSpPr>
          <p:cNvPr id="15" name="Shape 13"/>
          <p:cNvSpPr/>
          <p:nvPr/>
        </p:nvSpPr>
        <p:spPr>
          <a:xfrm>
            <a:off x="5471038" y="2263140"/>
            <a:ext cx="1249619" cy="0"/>
          </a:xfrm>
          <a:prstGeom prst="line">
            <a:avLst/>
          </a:prstGeom>
          <a:noFill/>
          <a:ln w="19050">
            <a:solidFill>
              <a:srgbClr val="51607A"/>
            </a:solidFill>
            <a:prstDash val="solid"/>
            <a:tailEnd type="triangle"/>
          </a:ln>
        </p:spPr>
      </p:sp>
      <p:sp>
        <p:nvSpPr>
          <p:cNvPr id="16" name="Shape 14"/>
          <p:cNvSpPr/>
          <p:nvPr/>
        </p:nvSpPr>
        <p:spPr>
          <a:xfrm>
            <a:off x="6793809" y="1920240"/>
            <a:ext cx="685800" cy="685800"/>
          </a:xfrm>
          <a:prstGeom prst="ellipse">
            <a:avLst/>
          </a:prstGeom>
          <a:solidFill>
            <a:srgbClr val="1E3A5F"/>
          </a:solidFill>
          <a:ln/>
        </p:spPr>
      </p:sp>
      <p:sp>
        <p:nvSpPr>
          <p:cNvPr id="17" name="Text 15"/>
          <p:cNvSpPr txBox="1"/>
          <p:nvPr/>
        </p:nvSpPr>
        <p:spPr>
          <a:xfrm>
            <a:off x="6793809"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6450909"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Review &amp;</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Secure</a:t>
            </a:r>
            <a:endParaRPr lang="en-US" sz="1050" dirty="0"/>
          </a:p>
        </p:txBody>
      </p:sp>
      <p:sp>
        <p:nvSpPr>
          <p:cNvPr id="19" name="Shape 17"/>
          <p:cNvSpPr/>
          <p:nvPr/>
        </p:nvSpPr>
        <p:spPr>
          <a:xfrm>
            <a:off x="7552761" y="2263140"/>
            <a:ext cx="1249619" cy="0"/>
          </a:xfrm>
          <a:prstGeom prst="line">
            <a:avLst/>
          </a:prstGeom>
          <a:noFill/>
          <a:ln w="19050">
            <a:solidFill>
              <a:srgbClr val="51607A"/>
            </a:solidFill>
            <a:prstDash val="solid"/>
            <a:tailEnd type="triangle"/>
          </a:ln>
        </p:spPr>
      </p:sp>
      <p:sp>
        <p:nvSpPr>
          <p:cNvPr id="20" name="Shape 18"/>
          <p:cNvSpPr/>
          <p:nvPr/>
        </p:nvSpPr>
        <p:spPr>
          <a:xfrm>
            <a:off x="8875532" y="1920240"/>
            <a:ext cx="685800" cy="685800"/>
          </a:xfrm>
          <a:prstGeom prst="ellipse">
            <a:avLst/>
          </a:prstGeom>
          <a:solidFill>
            <a:srgbClr val="1E3A5F"/>
          </a:solidFill>
          <a:ln/>
        </p:spPr>
      </p:sp>
      <p:sp>
        <p:nvSpPr>
          <p:cNvPr id="21" name="Text 19"/>
          <p:cNvSpPr txBox="1"/>
          <p:nvPr/>
        </p:nvSpPr>
        <p:spPr>
          <a:xfrm>
            <a:off x="8875532"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8532632"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Validate</a:t>
            </a:r>
            <a:endParaRPr lang="en-US" sz="1050" dirty="0"/>
          </a:p>
        </p:txBody>
      </p:sp>
      <p:sp>
        <p:nvSpPr>
          <p:cNvPr id="23" name="Shape 21"/>
          <p:cNvSpPr/>
          <p:nvPr/>
        </p:nvSpPr>
        <p:spPr>
          <a:xfrm>
            <a:off x="9634484" y="2263140"/>
            <a:ext cx="1249619" cy="0"/>
          </a:xfrm>
          <a:prstGeom prst="line">
            <a:avLst/>
          </a:prstGeom>
          <a:noFill/>
          <a:ln w="19050">
            <a:solidFill>
              <a:srgbClr val="51607A"/>
            </a:solidFill>
            <a:prstDash val="solid"/>
            <a:tailEnd type="triangle"/>
          </a:ln>
        </p:spPr>
      </p:sp>
      <p:sp>
        <p:nvSpPr>
          <p:cNvPr id="24" name="Shape 22"/>
          <p:cNvSpPr/>
          <p:nvPr/>
        </p:nvSpPr>
        <p:spPr>
          <a:xfrm>
            <a:off x="10957255" y="1920240"/>
            <a:ext cx="685800" cy="685800"/>
          </a:xfrm>
          <a:prstGeom prst="ellipse">
            <a:avLst/>
          </a:prstGeom>
          <a:solidFill>
            <a:srgbClr val="2BAE66"/>
          </a:solidFill>
          <a:ln/>
        </p:spPr>
      </p:sp>
      <p:sp>
        <p:nvSpPr>
          <p:cNvPr id="25" name="Text 23"/>
          <p:cNvSpPr txBox="1"/>
          <p:nvPr/>
        </p:nvSpPr>
        <p:spPr>
          <a:xfrm>
            <a:off x="10957255"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10614355"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Document</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Outcomes</a:t>
            </a:r>
            <a:endParaRPr lang="en-US" sz="1050" dirty="0"/>
          </a:p>
        </p:txBody>
      </p:sp>
      <p:sp>
        <p:nvSpPr>
          <p:cNvPr id="27" name="Text 25"/>
          <p:cNvSpPr txBox="1"/>
          <p:nvPr/>
        </p:nvSpPr>
        <p:spPr>
          <a:xfrm>
            <a:off x="548640" y="3931920"/>
            <a:ext cx="11094415"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Six AI Engineering Specifications</a:t>
            </a:r>
            <a:endParaRPr lang="en-US" sz="1600" dirty="0"/>
          </a:p>
        </p:txBody>
      </p:sp>
      <p:sp>
        <p:nvSpPr>
          <p:cNvPr id="28" name="Shape 26"/>
          <p:cNvSpPr/>
          <p:nvPr/>
        </p:nvSpPr>
        <p:spPr>
          <a:xfrm>
            <a:off x="548640" y="4434840"/>
            <a:ext cx="1696669" cy="548640"/>
          </a:xfrm>
          <a:prstGeom prst="roundRect">
            <a:avLst>
              <a:gd name="adj" fmla="val 13333"/>
            </a:avLst>
          </a:prstGeom>
          <a:solidFill>
            <a:srgbClr val="DCE8F5"/>
          </a:solidFill>
          <a:ln/>
        </p:spPr>
      </p:sp>
      <p:sp>
        <p:nvSpPr>
          <p:cNvPr id="29" name="Text 27"/>
          <p:cNvSpPr txBox="1"/>
          <p:nvPr/>
        </p:nvSpPr>
        <p:spPr>
          <a:xfrm>
            <a:off x="594360"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application-spec.md</a:t>
            </a:r>
            <a:endParaRPr lang="en-US" sz="1150" dirty="0"/>
          </a:p>
        </p:txBody>
      </p:sp>
      <p:sp>
        <p:nvSpPr>
          <p:cNvPr id="30" name="Shape 28"/>
          <p:cNvSpPr/>
          <p:nvPr/>
        </p:nvSpPr>
        <p:spPr>
          <a:xfrm>
            <a:off x="2428189" y="4434840"/>
            <a:ext cx="1696669" cy="548640"/>
          </a:xfrm>
          <a:prstGeom prst="roundRect">
            <a:avLst>
              <a:gd name="adj" fmla="val 13333"/>
            </a:avLst>
          </a:prstGeom>
          <a:solidFill>
            <a:srgbClr val="DCE8F5"/>
          </a:solidFill>
          <a:ln/>
        </p:spPr>
      </p:sp>
      <p:sp>
        <p:nvSpPr>
          <p:cNvPr id="31" name="Text 29"/>
          <p:cNvSpPr txBox="1"/>
          <p:nvPr/>
        </p:nvSpPr>
        <p:spPr>
          <a:xfrm>
            <a:off x="2473909"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infrastructure-spec.md</a:t>
            </a:r>
            <a:endParaRPr lang="en-US" sz="1150" dirty="0"/>
          </a:p>
        </p:txBody>
      </p:sp>
      <p:sp>
        <p:nvSpPr>
          <p:cNvPr id="32" name="Shape 30"/>
          <p:cNvSpPr/>
          <p:nvPr/>
        </p:nvSpPr>
        <p:spPr>
          <a:xfrm>
            <a:off x="4307738" y="4434840"/>
            <a:ext cx="1696669" cy="548640"/>
          </a:xfrm>
          <a:prstGeom prst="roundRect">
            <a:avLst>
              <a:gd name="adj" fmla="val 13333"/>
            </a:avLst>
          </a:prstGeom>
          <a:solidFill>
            <a:srgbClr val="DCE8F5"/>
          </a:solidFill>
          <a:ln/>
        </p:spPr>
      </p:sp>
      <p:sp>
        <p:nvSpPr>
          <p:cNvPr id="33" name="Text 31"/>
          <p:cNvSpPr txBox="1"/>
          <p:nvPr/>
        </p:nvSpPr>
        <p:spPr>
          <a:xfrm>
            <a:off x="4353458"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cicd-spec.md</a:t>
            </a:r>
            <a:endParaRPr lang="en-US" sz="1150" dirty="0"/>
          </a:p>
        </p:txBody>
      </p:sp>
      <p:sp>
        <p:nvSpPr>
          <p:cNvPr id="34" name="Shape 32"/>
          <p:cNvSpPr/>
          <p:nvPr/>
        </p:nvSpPr>
        <p:spPr>
          <a:xfrm>
            <a:off x="6187288" y="4434840"/>
            <a:ext cx="1696669" cy="548640"/>
          </a:xfrm>
          <a:prstGeom prst="roundRect">
            <a:avLst>
              <a:gd name="adj" fmla="val 13333"/>
            </a:avLst>
          </a:prstGeom>
          <a:solidFill>
            <a:srgbClr val="DCE8F5"/>
          </a:solidFill>
          <a:ln/>
        </p:spPr>
      </p:sp>
      <p:sp>
        <p:nvSpPr>
          <p:cNvPr id="35" name="Text 33"/>
          <p:cNvSpPr txBox="1"/>
          <p:nvPr/>
        </p:nvSpPr>
        <p:spPr>
          <a:xfrm>
            <a:off x="6233008"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security-spec.md</a:t>
            </a:r>
            <a:endParaRPr lang="en-US" sz="1150" dirty="0"/>
          </a:p>
        </p:txBody>
      </p:sp>
      <p:sp>
        <p:nvSpPr>
          <p:cNvPr id="36" name="Shape 34"/>
          <p:cNvSpPr/>
          <p:nvPr/>
        </p:nvSpPr>
        <p:spPr>
          <a:xfrm>
            <a:off x="8066837" y="4434840"/>
            <a:ext cx="1696669" cy="548640"/>
          </a:xfrm>
          <a:prstGeom prst="roundRect">
            <a:avLst>
              <a:gd name="adj" fmla="val 13333"/>
            </a:avLst>
          </a:prstGeom>
          <a:solidFill>
            <a:srgbClr val="DCE8F5"/>
          </a:solidFill>
          <a:ln/>
        </p:spPr>
      </p:sp>
      <p:sp>
        <p:nvSpPr>
          <p:cNvPr id="37" name="Text 35"/>
          <p:cNvSpPr txBox="1"/>
          <p:nvPr/>
        </p:nvSpPr>
        <p:spPr>
          <a:xfrm>
            <a:off x="8112557"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testing-spec.md</a:t>
            </a:r>
            <a:endParaRPr lang="en-US" sz="1150" dirty="0"/>
          </a:p>
        </p:txBody>
      </p:sp>
      <p:sp>
        <p:nvSpPr>
          <p:cNvPr id="38" name="Shape 36"/>
          <p:cNvSpPr/>
          <p:nvPr/>
        </p:nvSpPr>
        <p:spPr>
          <a:xfrm>
            <a:off x="9946386" y="4434840"/>
            <a:ext cx="1696669" cy="548640"/>
          </a:xfrm>
          <a:prstGeom prst="roundRect">
            <a:avLst>
              <a:gd name="adj" fmla="val 13333"/>
            </a:avLst>
          </a:prstGeom>
          <a:solidFill>
            <a:srgbClr val="DCE8F5"/>
          </a:solidFill>
          <a:ln/>
        </p:spPr>
      </p:sp>
      <p:sp>
        <p:nvSpPr>
          <p:cNvPr id="39" name="Text 37"/>
          <p:cNvSpPr txBox="1"/>
          <p:nvPr/>
        </p:nvSpPr>
        <p:spPr>
          <a:xfrm>
            <a:off x="9992106"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documentation-spec.md</a:t>
            </a:r>
            <a:endParaRPr lang="en-US" sz="1150" dirty="0"/>
          </a:p>
        </p:txBody>
      </p:sp>
      <p:sp>
        <p:nvSpPr>
          <p:cNvPr id="40" name="Text 38"/>
          <p:cNvSpPr txBox="1"/>
          <p:nvPr/>
        </p:nvSpPr>
        <p:spPr>
          <a:xfrm>
            <a:off x="548640" y="5212080"/>
            <a:ext cx="11094415" cy="640080"/>
          </a:xfrm>
          <a:prstGeom prst="rect">
            <a:avLst/>
          </a:prstGeom>
          <a:noFill/>
          <a:ln/>
        </p:spPr>
        <p:txBody>
          <a:bodyPr wrap="square" rtlCol="0" anchor="ctr"/>
          <a:lstStyle/>
          <a:p>
            <a:pPr indent="0" marL="0">
              <a:buNone/>
            </a:pPr>
            <a:r>
              <a:rPr lang="en-US" sz="1300" i="1" dirty="0">
                <a:solidFill>
                  <a:srgbClr val="51607A"/>
                </a:solidFill>
                <a:latin typeface="Calibri" pitchFamily="34" charset="0"/>
                <a:ea typeface="Calibri" pitchFamily="34" charset="-122"/>
                <a:cs typeface="Calibri" pitchFamily="34" charset="-120"/>
              </a:rPr>
              <a:t>Each specification guided AI-generated artifacts, which were then reviewed, secured, validated, and documented before acceptance.</a:t>
            </a:r>
            <a:endParaRPr lang="en-US" sz="1300" dirty="0"/>
          </a:p>
        </p:txBody>
      </p:sp>
      <p:sp>
        <p:nvSpPr>
          <p:cNvPr id="41" name="Text 39"/>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HOW AI WAS USED</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AI-Assisted Engineering Approach</a:t>
            </a:r>
            <a:endParaRPr lang="en-US" sz="3000" dirty="0"/>
          </a:p>
        </p:txBody>
      </p:sp>
      <p:sp>
        <p:nvSpPr>
          <p:cNvPr id="4" name="Text 2"/>
          <p:cNvSpPr txBox="1"/>
          <p:nvPr/>
        </p:nvSpPr>
        <p:spPr>
          <a:xfrm>
            <a:off x="548640" y="1371600"/>
            <a:ext cx="11094415" cy="457200"/>
          </a:xfrm>
          <a:prstGeom prst="rect">
            <a:avLst/>
          </a:prstGeom>
          <a:noFill/>
          <a:ln/>
        </p:spPr>
        <p:txBody>
          <a:bodyPr wrap="square" rtlCol="0" anchor="ctr"/>
          <a:lstStyle/>
          <a:p>
            <a:pPr indent="0" marL="0">
              <a:buNone/>
            </a:pPr>
            <a:r>
              <a:rPr lang="en-US" sz="1350" i="1" dirty="0">
                <a:solidFill>
                  <a:srgbClr val="1E3A5F"/>
                </a:solidFill>
                <a:latin typeface="Calibri" pitchFamily="34" charset="0"/>
                <a:ea typeface="Calibri" pitchFamily="34" charset="-122"/>
                <a:cs typeface="Calibri" pitchFamily="34" charset="-120"/>
              </a:rPr>
              <a:t>GitHub Copilot and conversational AI assistants were used as engineering assistants — not as replacements for validation or decision-making.</a:t>
            </a:r>
            <a:endParaRPr lang="en-US" sz="1350" dirty="0"/>
          </a:p>
        </p:txBody>
      </p:sp>
      <p:sp>
        <p:nvSpPr>
          <p:cNvPr id="5" name="Text 3"/>
          <p:cNvSpPr txBox="1"/>
          <p:nvPr/>
        </p:nvSpPr>
        <p:spPr>
          <a:xfrm>
            <a:off x="548640" y="1965960"/>
            <a:ext cx="6492240" cy="274320"/>
          </a:xfrm>
          <a:prstGeom prst="rect">
            <a:avLst/>
          </a:prstGeom>
          <a:noFill/>
          <a:ln/>
        </p:spPr>
        <p:txBody>
          <a:bodyPr wrap="square" rtlCol="0" anchor="ctr"/>
          <a:lstStyle/>
          <a:p>
            <a:pPr indent="0" marL="0">
              <a:buNone/>
            </a:pPr>
            <a:r>
              <a:rPr lang="en-US" sz="1250" b="1" spc="100" kern="0" dirty="0">
                <a:solidFill>
                  <a:srgbClr val="2C6E9E"/>
                </a:solidFill>
                <a:latin typeface="Calibri" pitchFamily="34" charset="0"/>
                <a:ea typeface="Calibri" pitchFamily="34" charset="-122"/>
                <a:cs typeface="Calibri" pitchFamily="34" charset="-120"/>
              </a:rPr>
              <a:t>WHERE AI ASSISTED</a:t>
            </a:r>
            <a:endParaRPr lang="en-US" sz="1250" dirty="0"/>
          </a:p>
        </p:txBody>
      </p:sp>
      <p:sp>
        <p:nvSpPr>
          <p:cNvPr id="6" name="Shape 4"/>
          <p:cNvSpPr/>
          <p:nvPr/>
        </p:nvSpPr>
        <p:spPr>
          <a:xfrm>
            <a:off x="548640" y="2331720"/>
            <a:ext cx="256032" cy="256032"/>
          </a:xfrm>
          <a:prstGeom prst="ellipse">
            <a:avLst/>
          </a:prstGeom>
          <a:solidFill>
            <a:srgbClr val="2C6E9E"/>
          </a:solidFill>
          <a:ln/>
        </p:spPr>
      </p:sp>
      <p:sp>
        <p:nvSpPr>
          <p:cNvPr id="7" name="Text 5"/>
          <p:cNvSpPr txBox="1"/>
          <p:nvPr/>
        </p:nvSpPr>
        <p:spPr>
          <a:xfrm>
            <a:off x="548640" y="23317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32688" y="2240280"/>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Application development — </a:t>
            </a:r>
            <a:pPr indent="0" marL="0">
              <a:buNone/>
            </a:pPr>
            <a:r>
              <a:rPr lang="en-US" sz="1080" dirty="0">
                <a:solidFill>
                  <a:srgbClr val="51607A"/>
                </a:solidFill>
                <a:latin typeface="Calibri" pitchFamily="34" charset="0"/>
                <a:ea typeface="Calibri" pitchFamily="34" charset="-122"/>
                <a:cs typeface="Calibri" pitchFamily="34" charset="-120"/>
              </a:rPr>
              <a:t>Spring Boot code, API structure, validation logic, and test generation</a:t>
            </a:r>
            <a:endParaRPr lang="en-US" sz="1080" dirty="0"/>
          </a:p>
        </p:txBody>
      </p:sp>
      <p:sp>
        <p:nvSpPr>
          <p:cNvPr id="9" name="Shape 7"/>
          <p:cNvSpPr/>
          <p:nvPr/>
        </p:nvSpPr>
        <p:spPr>
          <a:xfrm>
            <a:off x="548640" y="2820924"/>
            <a:ext cx="256032" cy="256032"/>
          </a:xfrm>
          <a:prstGeom prst="ellipse">
            <a:avLst/>
          </a:prstGeom>
          <a:solidFill>
            <a:srgbClr val="1CA7C9"/>
          </a:solidFill>
          <a:ln/>
        </p:spPr>
      </p:sp>
      <p:sp>
        <p:nvSpPr>
          <p:cNvPr id="10" name="Text 8"/>
          <p:cNvSpPr txBox="1"/>
          <p:nvPr/>
        </p:nvSpPr>
        <p:spPr>
          <a:xfrm>
            <a:off x="548640" y="28209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32688" y="2729484"/>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Infrastructure as Code — </a:t>
            </a:r>
            <a:pPr indent="0" marL="0">
              <a:buNone/>
            </a:pPr>
            <a:r>
              <a:rPr lang="en-US" sz="1080" dirty="0">
                <a:solidFill>
                  <a:srgbClr val="51607A"/>
                </a:solidFill>
                <a:latin typeface="Calibri" pitchFamily="34" charset="0"/>
                <a:ea typeface="Calibri" pitchFamily="34" charset="-122"/>
                <a:cs typeface="Calibri" pitchFamily="34" charset="-120"/>
              </a:rPr>
              <a:t>Drafted/refined Terraform for VPC, ECS Fargate, ALB, RDS, IAM, KMS, CloudWatch, autoscaling, S3 archive</a:t>
            </a:r>
            <a:endParaRPr lang="en-US" sz="1080" dirty="0"/>
          </a:p>
        </p:txBody>
      </p:sp>
      <p:sp>
        <p:nvSpPr>
          <p:cNvPr id="12" name="Shape 10"/>
          <p:cNvSpPr/>
          <p:nvPr/>
        </p:nvSpPr>
        <p:spPr>
          <a:xfrm>
            <a:off x="548640" y="3310128"/>
            <a:ext cx="256032" cy="256032"/>
          </a:xfrm>
          <a:prstGeom prst="ellipse">
            <a:avLst/>
          </a:prstGeom>
          <a:solidFill>
            <a:srgbClr val="1E3A5F"/>
          </a:solidFill>
          <a:ln/>
        </p:spPr>
      </p:sp>
      <p:sp>
        <p:nvSpPr>
          <p:cNvPr id="13" name="Text 11"/>
          <p:cNvSpPr txBox="1"/>
          <p:nvPr/>
        </p:nvSpPr>
        <p:spPr>
          <a:xfrm>
            <a:off x="548640" y="33101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32688" y="3218688"/>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CI/CD — </a:t>
            </a:r>
            <a:pPr indent="0" marL="0">
              <a:buNone/>
            </a:pPr>
            <a:r>
              <a:rPr lang="en-US" sz="1080" dirty="0">
                <a:solidFill>
                  <a:srgbClr val="51607A"/>
                </a:solidFill>
                <a:latin typeface="Calibri" pitchFamily="34" charset="0"/>
                <a:ea typeface="Calibri" pitchFamily="34" charset="-122"/>
                <a:cs typeface="Calibri" pitchFamily="34" charset="-120"/>
              </a:rPr>
              <a:t>Generated &amp; troubleshot GitHub Actions for Maven builds, security scanning, Docker builds, ECR publishing, ECS deployment</a:t>
            </a:r>
            <a:endParaRPr lang="en-US" sz="1080" dirty="0"/>
          </a:p>
        </p:txBody>
      </p:sp>
      <p:sp>
        <p:nvSpPr>
          <p:cNvPr id="15" name="Shape 13"/>
          <p:cNvSpPr/>
          <p:nvPr/>
        </p:nvSpPr>
        <p:spPr>
          <a:xfrm>
            <a:off x="548640" y="3799332"/>
            <a:ext cx="256032" cy="256032"/>
          </a:xfrm>
          <a:prstGeom prst="ellipse">
            <a:avLst/>
          </a:prstGeom>
          <a:solidFill>
            <a:srgbClr val="2BAE66"/>
          </a:solidFill>
          <a:ln/>
        </p:spPr>
      </p:sp>
      <p:sp>
        <p:nvSpPr>
          <p:cNvPr id="16" name="Text 14"/>
          <p:cNvSpPr txBox="1"/>
          <p:nvPr/>
        </p:nvSpPr>
        <p:spPr>
          <a:xfrm>
            <a:off x="548640" y="37993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932688" y="3707892"/>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Containers &amp; orchestration — </a:t>
            </a:r>
            <a:pPr indent="0" marL="0">
              <a:buNone/>
            </a:pPr>
            <a:r>
              <a:rPr lang="en-US" sz="1080" dirty="0">
                <a:solidFill>
                  <a:srgbClr val="51607A"/>
                </a:solidFill>
                <a:latin typeface="Calibri" pitchFamily="34" charset="0"/>
                <a:ea typeface="Calibri" pitchFamily="34" charset="-122"/>
                <a:cs typeface="Calibri" pitchFamily="34" charset="-120"/>
              </a:rPr>
              <a:t>Dockerfile, ECS task definitions, and Kubernetes/Kustomize manifests (local portability &amp; security validation)</a:t>
            </a:r>
            <a:endParaRPr lang="en-US" sz="1080" dirty="0"/>
          </a:p>
        </p:txBody>
      </p:sp>
      <p:sp>
        <p:nvSpPr>
          <p:cNvPr id="18" name="Shape 16"/>
          <p:cNvSpPr/>
          <p:nvPr/>
        </p:nvSpPr>
        <p:spPr>
          <a:xfrm>
            <a:off x="548640" y="4288536"/>
            <a:ext cx="256032" cy="256032"/>
          </a:xfrm>
          <a:prstGeom prst="ellipse">
            <a:avLst/>
          </a:prstGeom>
          <a:solidFill>
            <a:srgbClr val="2C6E9E"/>
          </a:solidFill>
          <a:ln/>
        </p:spPr>
      </p:sp>
      <p:sp>
        <p:nvSpPr>
          <p:cNvPr id="19" name="Text 17"/>
          <p:cNvSpPr txBox="1"/>
          <p:nvPr/>
        </p:nvSpPr>
        <p:spPr>
          <a:xfrm>
            <a:off x="548640" y="42885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932688" y="4197096"/>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Automation scripts — </a:t>
            </a:r>
            <a:pPr indent="0" marL="0">
              <a:buNone/>
            </a:pPr>
            <a:r>
              <a:rPr lang="en-US" sz="1080" dirty="0">
                <a:solidFill>
                  <a:srgbClr val="51607A"/>
                </a:solidFill>
                <a:latin typeface="Calibri" pitchFamily="34" charset="0"/>
                <a:ea typeface="Calibri" pitchFamily="34" charset="-122"/>
                <a:cs typeface="Calibri" pitchFamily="34" charset="-120"/>
              </a:rPr>
              <a:t>Shell scripts for CloudWatch log archiving and one-off RDS backups to S3</a:t>
            </a:r>
            <a:endParaRPr lang="en-US" sz="1080" dirty="0"/>
          </a:p>
        </p:txBody>
      </p:sp>
      <p:sp>
        <p:nvSpPr>
          <p:cNvPr id="21" name="Shape 19"/>
          <p:cNvSpPr/>
          <p:nvPr/>
        </p:nvSpPr>
        <p:spPr>
          <a:xfrm>
            <a:off x="548640" y="4777740"/>
            <a:ext cx="256032" cy="256032"/>
          </a:xfrm>
          <a:prstGeom prst="ellipse">
            <a:avLst/>
          </a:prstGeom>
          <a:solidFill>
            <a:srgbClr val="D99A28"/>
          </a:solidFill>
          <a:ln/>
        </p:spPr>
      </p:sp>
      <p:sp>
        <p:nvSpPr>
          <p:cNvPr id="22" name="Text 20"/>
          <p:cNvSpPr txBox="1"/>
          <p:nvPr/>
        </p:nvSpPr>
        <p:spPr>
          <a:xfrm>
            <a:off x="548640" y="47777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932688" y="4686300"/>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Security — </a:t>
            </a:r>
            <a:pPr indent="0" marL="0">
              <a:buNone/>
            </a:pPr>
            <a:r>
              <a:rPr lang="en-US" sz="1080" dirty="0">
                <a:solidFill>
                  <a:srgbClr val="51607A"/>
                </a:solidFill>
                <a:latin typeface="Calibri" pitchFamily="34" charset="0"/>
                <a:ea typeface="Calibri" pitchFamily="34" charset="-122"/>
                <a:cs typeface="Calibri" pitchFamily="34" charset="-120"/>
              </a:rPr>
              <a:t>Interpreted Checkov, Trivy, and Gitleaks findings and proposed secure remediations</a:t>
            </a:r>
            <a:endParaRPr lang="en-US" sz="1080" dirty="0"/>
          </a:p>
        </p:txBody>
      </p:sp>
      <p:sp>
        <p:nvSpPr>
          <p:cNvPr id="24" name="Shape 22"/>
          <p:cNvSpPr/>
          <p:nvPr/>
        </p:nvSpPr>
        <p:spPr>
          <a:xfrm>
            <a:off x="548640" y="5266944"/>
            <a:ext cx="256032" cy="256032"/>
          </a:xfrm>
          <a:prstGeom prst="ellipse">
            <a:avLst/>
          </a:prstGeom>
          <a:solidFill>
            <a:srgbClr val="1E3A5F"/>
          </a:solidFill>
          <a:ln/>
        </p:spPr>
      </p:sp>
      <p:sp>
        <p:nvSpPr>
          <p:cNvPr id="25" name="Text 23"/>
          <p:cNvSpPr txBox="1"/>
          <p:nvPr/>
        </p:nvSpPr>
        <p:spPr>
          <a:xfrm>
            <a:off x="548640" y="52669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txBox="1"/>
          <p:nvPr/>
        </p:nvSpPr>
        <p:spPr>
          <a:xfrm>
            <a:off x="932688" y="5175504"/>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Documentation — </a:t>
            </a:r>
            <a:pPr indent="0" marL="0">
              <a:buNone/>
            </a:pPr>
            <a:r>
              <a:rPr lang="en-US" sz="1080" dirty="0">
                <a:solidFill>
                  <a:srgbClr val="51607A"/>
                </a:solidFill>
                <a:latin typeface="Calibri" pitchFamily="34" charset="0"/>
                <a:ea typeface="Calibri" pitchFamily="34" charset="-122"/>
                <a:cs typeface="Calibri" pitchFamily="34" charset="-120"/>
              </a:rPr>
              <a:t>Architecture diagrams, ADRs, operating guides, troubleshooting docs, presentation content</a:t>
            </a:r>
            <a:endParaRPr lang="en-US" sz="1080" dirty="0"/>
          </a:p>
        </p:txBody>
      </p:sp>
      <p:sp>
        <p:nvSpPr>
          <p:cNvPr id="27" name="Text 25"/>
          <p:cNvSpPr txBox="1"/>
          <p:nvPr/>
        </p:nvSpPr>
        <p:spPr>
          <a:xfrm>
            <a:off x="7360920" y="1965960"/>
            <a:ext cx="4282135" cy="274320"/>
          </a:xfrm>
          <a:prstGeom prst="rect">
            <a:avLst/>
          </a:prstGeom>
          <a:noFill/>
          <a:ln/>
        </p:spPr>
        <p:txBody>
          <a:bodyPr wrap="square" rtlCol="0" anchor="ctr"/>
          <a:lstStyle/>
          <a:p>
            <a:pPr indent="0" marL="0">
              <a:buNone/>
            </a:pPr>
            <a:r>
              <a:rPr lang="en-US" sz="1250" b="1" spc="100" kern="0" dirty="0">
                <a:solidFill>
                  <a:srgbClr val="2BAE66"/>
                </a:solidFill>
                <a:latin typeface="Calibri" pitchFamily="34" charset="0"/>
                <a:ea typeface="Calibri" pitchFamily="34" charset="-122"/>
                <a:cs typeface="Calibri" pitchFamily="34" charset="-120"/>
              </a:rPr>
              <a:t>HUMAN VALIDATION PROCESS</a:t>
            </a:r>
            <a:endParaRPr lang="en-US" sz="1250" dirty="0"/>
          </a:p>
        </p:txBody>
      </p:sp>
      <p:sp>
        <p:nvSpPr>
          <p:cNvPr id="28" name="Shape 26"/>
          <p:cNvSpPr/>
          <p:nvPr/>
        </p:nvSpPr>
        <p:spPr>
          <a:xfrm>
            <a:off x="7360920" y="2350008"/>
            <a:ext cx="4282135" cy="329184"/>
          </a:xfrm>
          <a:prstGeom prst="roundRect">
            <a:avLst>
              <a:gd name="adj" fmla="val 22222"/>
            </a:avLst>
          </a:prstGeom>
          <a:solidFill>
            <a:srgbClr val="EAF0F8"/>
          </a:solidFill>
          <a:ln/>
        </p:spPr>
      </p:sp>
      <p:sp>
        <p:nvSpPr>
          <p:cNvPr id="29" name="Text 27"/>
          <p:cNvSpPr txBox="1"/>
          <p:nvPr/>
        </p:nvSpPr>
        <p:spPr>
          <a:xfrm>
            <a:off x="7406640" y="235000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AI suggestion</a:t>
            </a:r>
            <a:endParaRPr lang="en-US" sz="1100" dirty="0"/>
          </a:p>
        </p:txBody>
      </p:sp>
      <p:sp>
        <p:nvSpPr>
          <p:cNvPr id="30" name="Shape 28"/>
          <p:cNvSpPr/>
          <p:nvPr/>
        </p:nvSpPr>
        <p:spPr>
          <a:xfrm>
            <a:off x="9447124" y="2679192"/>
            <a:ext cx="109728" cy="64008"/>
          </a:xfrm>
          <a:prstGeom prst="downArrow">
            <a:avLst/>
          </a:prstGeom>
          <a:solidFill>
            <a:srgbClr val="51607A"/>
          </a:solidFill>
          <a:ln/>
        </p:spPr>
      </p:sp>
      <p:sp>
        <p:nvSpPr>
          <p:cNvPr id="31" name="Shape 29"/>
          <p:cNvSpPr/>
          <p:nvPr/>
        </p:nvSpPr>
        <p:spPr>
          <a:xfrm>
            <a:off x="7360920" y="2761488"/>
            <a:ext cx="4282135" cy="329184"/>
          </a:xfrm>
          <a:prstGeom prst="roundRect">
            <a:avLst>
              <a:gd name="adj" fmla="val 22222"/>
            </a:avLst>
          </a:prstGeom>
          <a:solidFill>
            <a:srgbClr val="EAF0F8"/>
          </a:solidFill>
          <a:ln/>
        </p:spPr>
      </p:sp>
      <p:sp>
        <p:nvSpPr>
          <p:cNvPr id="32" name="Text 30"/>
          <p:cNvSpPr txBox="1"/>
          <p:nvPr/>
        </p:nvSpPr>
        <p:spPr>
          <a:xfrm>
            <a:off x="7406640" y="276148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Engineer review</a:t>
            </a:r>
            <a:endParaRPr lang="en-US" sz="1100" dirty="0"/>
          </a:p>
        </p:txBody>
      </p:sp>
      <p:sp>
        <p:nvSpPr>
          <p:cNvPr id="33" name="Shape 31"/>
          <p:cNvSpPr/>
          <p:nvPr/>
        </p:nvSpPr>
        <p:spPr>
          <a:xfrm>
            <a:off x="9447124" y="3090672"/>
            <a:ext cx="109728" cy="64008"/>
          </a:xfrm>
          <a:prstGeom prst="downArrow">
            <a:avLst/>
          </a:prstGeom>
          <a:solidFill>
            <a:srgbClr val="51607A"/>
          </a:solidFill>
          <a:ln/>
        </p:spPr>
      </p:sp>
      <p:sp>
        <p:nvSpPr>
          <p:cNvPr id="34" name="Shape 32"/>
          <p:cNvSpPr/>
          <p:nvPr/>
        </p:nvSpPr>
        <p:spPr>
          <a:xfrm>
            <a:off x="7360920" y="3172968"/>
            <a:ext cx="4282135" cy="329184"/>
          </a:xfrm>
          <a:prstGeom prst="roundRect">
            <a:avLst>
              <a:gd name="adj" fmla="val 22222"/>
            </a:avLst>
          </a:prstGeom>
          <a:solidFill>
            <a:srgbClr val="EAF0F8"/>
          </a:solidFill>
          <a:ln/>
        </p:spPr>
      </p:sp>
      <p:sp>
        <p:nvSpPr>
          <p:cNvPr id="35" name="Text 33"/>
          <p:cNvSpPr txBox="1"/>
          <p:nvPr/>
        </p:nvSpPr>
        <p:spPr>
          <a:xfrm>
            <a:off x="7406640" y="317296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Local validation</a:t>
            </a:r>
            <a:endParaRPr lang="en-US" sz="1100" dirty="0"/>
          </a:p>
        </p:txBody>
      </p:sp>
      <p:sp>
        <p:nvSpPr>
          <p:cNvPr id="36" name="Shape 34"/>
          <p:cNvSpPr/>
          <p:nvPr/>
        </p:nvSpPr>
        <p:spPr>
          <a:xfrm>
            <a:off x="9447124" y="3502152"/>
            <a:ext cx="109728" cy="64008"/>
          </a:xfrm>
          <a:prstGeom prst="downArrow">
            <a:avLst/>
          </a:prstGeom>
          <a:solidFill>
            <a:srgbClr val="51607A"/>
          </a:solidFill>
          <a:ln/>
        </p:spPr>
      </p:sp>
      <p:sp>
        <p:nvSpPr>
          <p:cNvPr id="37" name="Shape 35"/>
          <p:cNvSpPr/>
          <p:nvPr/>
        </p:nvSpPr>
        <p:spPr>
          <a:xfrm>
            <a:off x="7360920" y="3584448"/>
            <a:ext cx="4282135" cy="329184"/>
          </a:xfrm>
          <a:prstGeom prst="roundRect">
            <a:avLst>
              <a:gd name="adj" fmla="val 22222"/>
            </a:avLst>
          </a:prstGeom>
          <a:solidFill>
            <a:srgbClr val="EAF0F8"/>
          </a:solidFill>
          <a:ln/>
        </p:spPr>
      </p:sp>
      <p:sp>
        <p:nvSpPr>
          <p:cNvPr id="38" name="Text 36"/>
          <p:cNvSpPr txBox="1"/>
          <p:nvPr/>
        </p:nvSpPr>
        <p:spPr>
          <a:xfrm>
            <a:off x="7406640" y="358444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Security scanning</a:t>
            </a:r>
            <a:endParaRPr lang="en-US" sz="1100" dirty="0"/>
          </a:p>
        </p:txBody>
      </p:sp>
      <p:sp>
        <p:nvSpPr>
          <p:cNvPr id="39" name="Shape 37"/>
          <p:cNvSpPr/>
          <p:nvPr/>
        </p:nvSpPr>
        <p:spPr>
          <a:xfrm>
            <a:off x="9447124" y="3913632"/>
            <a:ext cx="109728" cy="64008"/>
          </a:xfrm>
          <a:prstGeom prst="downArrow">
            <a:avLst/>
          </a:prstGeom>
          <a:solidFill>
            <a:srgbClr val="51607A"/>
          </a:solidFill>
          <a:ln/>
        </p:spPr>
      </p:sp>
      <p:sp>
        <p:nvSpPr>
          <p:cNvPr id="40" name="Shape 38"/>
          <p:cNvSpPr/>
          <p:nvPr/>
        </p:nvSpPr>
        <p:spPr>
          <a:xfrm>
            <a:off x="7360920" y="3995928"/>
            <a:ext cx="4282135" cy="329184"/>
          </a:xfrm>
          <a:prstGeom prst="roundRect">
            <a:avLst>
              <a:gd name="adj" fmla="val 22222"/>
            </a:avLst>
          </a:prstGeom>
          <a:solidFill>
            <a:srgbClr val="EAF0F8"/>
          </a:solidFill>
          <a:ln/>
        </p:spPr>
      </p:sp>
      <p:sp>
        <p:nvSpPr>
          <p:cNvPr id="41" name="Text 39"/>
          <p:cNvSpPr txBox="1"/>
          <p:nvPr/>
        </p:nvSpPr>
        <p:spPr>
          <a:xfrm>
            <a:off x="7406640" y="399592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Test environment verification</a:t>
            </a:r>
            <a:endParaRPr lang="en-US" sz="1100" dirty="0"/>
          </a:p>
        </p:txBody>
      </p:sp>
      <p:sp>
        <p:nvSpPr>
          <p:cNvPr id="42" name="Shape 40"/>
          <p:cNvSpPr/>
          <p:nvPr/>
        </p:nvSpPr>
        <p:spPr>
          <a:xfrm>
            <a:off x="9447124" y="4325112"/>
            <a:ext cx="109728" cy="64008"/>
          </a:xfrm>
          <a:prstGeom prst="downArrow">
            <a:avLst/>
          </a:prstGeom>
          <a:solidFill>
            <a:srgbClr val="51607A"/>
          </a:solidFill>
          <a:ln/>
        </p:spPr>
      </p:sp>
      <p:sp>
        <p:nvSpPr>
          <p:cNvPr id="43" name="Shape 41"/>
          <p:cNvSpPr/>
          <p:nvPr/>
        </p:nvSpPr>
        <p:spPr>
          <a:xfrm>
            <a:off x="7360920" y="4407408"/>
            <a:ext cx="4282135" cy="329184"/>
          </a:xfrm>
          <a:prstGeom prst="roundRect">
            <a:avLst>
              <a:gd name="adj" fmla="val 22222"/>
            </a:avLst>
          </a:prstGeom>
          <a:solidFill>
            <a:srgbClr val="DCE8F5"/>
          </a:solidFill>
          <a:ln/>
        </p:spPr>
      </p:sp>
      <p:sp>
        <p:nvSpPr>
          <p:cNvPr id="44" name="Text 42"/>
          <p:cNvSpPr txBox="1"/>
          <p:nvPr/>
        </p:nvSpPr>
        <p:spPr>
          <a:xfrm>
            <a:off x="7406640" y="4407408"/>
            <a:ext cx="4190695" cy="329184"/>
          </a:xfrm>
          <a:prstGeom prst="rect">
            <a:avLst/>
          </a:prstGeom>
          <a:noFill/>
          <a:ln/>
        </p:spPr>
        <p:txBody>
          <a:bodyPr wrap="square" lIns="0" tIns="0" rIns="0" bIns="0" rtlCol="0" anchor="ctr"/>
          <a:lstStyle/>
          <a:p>
            <a:pPr algn="ctr" indent="0" marL="0">
              <a:buNone/>
            </a:pPr>
            <a:r>
              <a:rPr lang="en-US" sz="1100" b="1" dirty="0">
                <a:solidFill>
                  <a:srgbClr val="1E3A5F"/>
                </a:solidFill>
                <a:latin typeface="Calibri" pitchFamily="34" charset="0"/>
                <a:ea typeface="Calibri" pitchFamily="34" charset="-122"/>
                <a:cs typeface="Calibri" pitchFamily="34" charset="-120"/>
              </a:rPr>
              <a:t>Git commit</a:t>
            </a:r>
            <a:endParaRPr lang="en-US" sz="1100" dirty="0"/>
          </a:p>
        </p:txBody>
      </p:sp>
      <p:sp>
        <p:nvSpPr>
          <p:cNvPr id="45" name="Text 4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HOW AI WAS USED</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2600" b="1" dirty="0">
                <a:solidFill>
                  <a:srgbClr val="1B2A4A"/>
                </a:solidFill>
                <a:latin typeface="Cambria" pitchFamily="34" charset="0"/>
                <a:ea typeface="Cambria" pitchFamily="34" charset="-122"/>
                <a:cs typeface="Cambria" pitchFamily="34" charset="-120"/>
              </a:rPr>
              <a:t>AI-Assisted Engineering Approach — Verification</a:t>
            </a:r>
            <a:endParaRPr lang="en-US" sz="2600" dirty="0"/>
          </a:p>
        </p:txBody>
      </p:sp>
      <p:sp>
        <p:nvSpPr>
          <p:cNvPr id="4" name="Text 2"/>
          <p:cNvSpPr txBox="1"/>
          <p:nvPr/>
        </p:nvSpPr>
        <p:spPr>
          <a:xfrm>
            <a:off x="548640" y="1417320"/>
            <a:ext cx="11094415" cy="411480"/>
          </a:xfrm>
          <a:prstGeom prst="rect">
            <a:avLst/>
          </a:prstGeom>
          <a:noFill/>
          <a:ln/>
        </p:spPr>
        <p:txBody>
          <a:bodyPr wrap="square" rtlCol="0" anchor="ctr"/>
          <a:lstStyle/>
          <a:p>
            <a:pPr indent="0" marL="0">
              <a:buNone/>
            </a:pPr>
            <a:r>
              <a:rPr lang="en-US" sz="1400" dirty="0">
                <a:solidFill>
                  <a:srgbClr val="51607A"/>
                </a:solidFill>
                <a:latin typeface="Calibri" pitchFamily="34" charset="0"/>
                <a:ea typeface="Calibri" pitchFamily="34" charset="-122"/>
                <a:cs typeface="Calibri" pitchFamily="34" charset="-120"/>
              </a:rPr>
              <a:t>All AI-generated work was reviewed and verified using the same tooling applied to every change in the pipeline:</a:t>
            </a:r>
            <a:endParaRPr lang="en-US" sz="1400" dirty="0"/>
          </a:p>
        </p:txBody>
      </p:sp>
      <p:sp>
        <p:nvSpPr>
          <p:cNvPr id="5" name="Shape 3"/>
          <p:cNvSpPr/>
          <p:nvPr/>
        </p:nvSpPr>
        <p:spPr>
          <a:xfrm>
            <a:off x="548640" y="2057400"/>
            <a:ext cx="3545738" cy="594360"/>
          </a:xfrm>
          <a:prstGeom prst="roundRect">
            <a:avLst>
              <a:gd name="adj" fmla="val 12308"/>
            </a:avLst>
          </a:prstGeom>
          <a:solidFill>
            <a:srgbClr val="EAF0F8"/>
          </a:solidFill>
          <a:ln/>
        </p:spPr>
      </p:sp>
      <p:sp>
        <p:nvSpPr>
          <p:cNvPr id="6" name="Text 4"/>
          <p:cNvSpPr txBox="1"/>
          <p:nvPr/>
        </p:nvSpPr>
        <p:spPr>
          <a:xfrm>
            <a:off x="594360"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Maven tests</a:t>
            </a:r>
            <a:endParaRPr lang="en-US" sz="1300" dirty="0"/>
          </a:p>
        </p:txBody>
      </p:sp>
      <p:sp>
        <p:nvSpPr>
          <p:cNvPr id="7" name="Shape 5"/>
          <p:cNvSpPr/>
          <p:nvPr/>
        </p:nvSpPr>
        <p:spPr>
          <a:xfrm>
            <a:off x="4322978" y="2057400"/>
            <a:ext cx="3545738" cy="594360"/>
          </a:xfrm>
          <a:prstGeom prst="roundRect">
            <a:avLst>
              <a:gd name="adj" fmla="val 12308"/>
            </a:avLst>
          </a:prstGeom>
          <a:solidFill>
            <a:srgbClr val="EAF0F8"/>
          </a:solidFill>
          <a:ln/>
        </p:spPr>
      </p:sp>
      <p:sp>
        <p:nvSpPr>
          <p:cNvPr id="8" name="Text 6"/>
          <p:cNvSpPr txBox="1"/>
          <p:nvPr/>
        </p:nvSpPr>
        <p:spPr>
          <a:xfrm>
            <a:off x="4368698"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Terraform fmt &amp; validate</a:t>
            </a:r>
            <a:endParaRPr lang="en-US" sz="1300" dirty="0"/>
          </a:p>
        </p:txBody>
      </p:sp>
      <p:sp>
        <p:nvSpPr>
          <p:cNvPr id="9" name="Shape 7"/>
          <p:cNvSpPr/>
          <p:nvPr/>
        </p:nvSpPr>
        <p:spPr>
          <a:xfrm>
            <a:off x="8097317" y="2057400"/>
            <a:ext cx="3545738" cy="594360"/>
          </a:xfrm>
          <a:prstGeom prst="roundRect">
            <a:avLst>
              <a:gd name="adj" fmla="val 12308"/>
            </a:avLst>
          </a:prstGeom>
          <a:solidFill>
            <a:srgbClr val="EAF0F8"/>
          </a:solidFill>
          <a:ln/>
        </p:spPr>
      </p:sp>
      <p:sp>
        <p:nvSpPr>
          <p:cNvPr id="10" name="Text 8"/>
          <p:cNvSpPr txBox="1"/>
          <p:nvPr/>
        </p:nvSpPr>
        <p:spPr>
          <a:xfrm>
            <a:off x="8143037"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Checkov</a:t>
            </a:r>
            <a:endParaRPr lang="en-US" sz="1300" dirty="0"/>
          </a:p>
        </p:txBody>
      </p:sp>
      <p:sp>
        <p:nvSpPr>
          <p:cNvPr id="11" name="Shape 9"/>
          <p:cNvSpPr/>
          <p:nvPr/>
        </p:nvSpPr>
        <p:spPr>
          <a:xfrm>
            <a:off x="548640" y="2880360"/>
            <a:ext cx="3545738" cy="594360"/>
          </a:xfrm>
          <a:prstGeom prst="roundRect">
            <a:avLst>
              <a:gd name="adj" fmla="val 12308"/>
            </a:avLst>
          </a:prstGeom>
          <a:solidFill>
            <a:srgbClr val="EAF0F8"/>
          </a:solidFill>
          <a:ln/>
        </p:spPr>
      </p:sp>
      <p:sp>
        <p:nvSpPr>
          <p:cNvPr id="12" name="Text 10"/>
          <p:cNvSpPr txBox="1"/>
          <p:nvPr/>
        </p:nvSpPr>
        <p:spPr>
          <a:xfrm>
            <a:off x="594360"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Trivy</a:t>
            </a:r>
            <a:endParaRPr lang="en-US" sz="1300" dirty="0"/>
          </a:p>
        </p:txBody>
      </p:sp>
      <p:sp>
        <p:nvSpPr>
          <p:cNvPr id="13" name="Shape 11"/>
          <p:cNvSpPr/>
          <p:nvPr/>
        </p:nvSpPr>
        <p:spPr>
          <a:xfrm>
            <a:off x="4322978" y="2880360"/>
            <a:ext cx="3545738" cy="594360"/>
          </a:xfrm>
          <a:prstGeom prst="roundRect">
            <a:avLst>
              <a:gd name="adj" fmla="val 12308"/>
            </a:avLst>
          </a:prstGeom>
          <a:solidFill>
            <a:srgbClr val="EAF0F8"/>
          </a:solidFill>
          <a:ln/>
        </p:spPr>
      </p:sp>
      <p:sp>
        <p:nvSpPr>
          <p:cNvPr id="14" name="Text 12"/>
          <p:cNvSpPr txBox="1"/>
          <p:nvPr/>
        </p:nvSpPr>
        <p:spPr>
          <a:xfrm>
            <a:off x="4368698"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Gitleaks</a:t>
            </a:r>
            <a:endParaRPr lang="en-US" sz="1300" dirty="0"/>
          </a:p>
        </p:txBody>
      </p:sp>
      <p:sp>
        <p:nvSpPr>
          <p:cNvPr id="15" name="Shape 13"/>
          <p:cNvSpPr/>
          <p:nvPr/>
        </p:nvSpPr>
        <p:spPr>
          <a:xfrm>
            <a:off x="8097317" y="2880360"/>
            <a:ext cx="3545738" cy="594360"/>
          </a:xfrm>
          <a:prstGeom prst="roundRect">
            <a:avLst>
              <a:gd name="adj" fmla="val 12308"/>
            </a:avLst>
          </a:prstGeom>
          <a:solidFill>
            <a:srgbClr val="EAF0F8"/>
          </a:solidFill>
          <a:ln/>
        </p:spPr>
      </p:sp>
      <p:sp>
        <p:nvSpPr>
          <p:cNvPr id="16" name="Text 14"/>
          <p:cNvSpPr txBox="1"/>
          <p:nvPr/>
        </p:nvSpPr>
        <p:spPr>
          <a:xfrm>
            <a:off x="8143037"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GitHub Actions CI</a:t>
            </a:r>
            <a:endParaRPr lang="en-US" sz="1300" dirty="0"/>
          </a:p>
        </p:txBody>
      </p:sp>
      <p:sp>
        <p:nvSpPr>
          <p:cNvPr id="17" name="Shape 15"/>
          <p:cNvSpPr/>
          <p:nvPr/>
        </p:nvSpPr>
        <p:spPr>
          <a:xfrm>
            <a:off x="548640" y="3703320"/>
            <a:ext cx="3545738" cy="594360"/>
          </a:xfrm>
          <a:prstGeom prst="roundRect">
            <a:avLst>
              <a:gd name="adj" fmla="val 12308"/>
            </a:avLst>
          </a:prstGeom>
          <a:solidFill>
            <a:srgbClr val="EAF0F8"/>
          </a:solidFill>
          <a:ln/>
        </p:spPr>
      </p:sp>
      <p:sp>
        <p:nvSpPr>
          <p:cNvPr id="18" name="Text 16"/>
          <p:cNvSpPr txBox="1"/>
          <p:nvPr/>
        </p:nvSpPr>
        <p:spPr>
          <a:xfrm>
            <a:off x="594360"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AWS runtime health checks</a:t>
            </a:r>
            <a:endParaRPr lang="en-US" sz="1300" dirty="0"/>
          </a:p>
        </p:txBody>
      </p:sp>
      <p:sp>
        <p:nvSpPr>
          <p:cNvPr id="19" name="Shape 17"/>
          <p:cNvSpPr/>
          <p:nvPr/>
        </p:nvSpPr>
        <p:spPr>
          <a:xfrm>
            <a:off x="4322978" y="3703320"/>
            <a:ext cx="3545738" cy="594360"/>
          </a:xfrm>
          <a:prstGeom prst="roundRect">
            <a:avLst>
              <a:gd name="adj" fmla="val 12308"/>
            </a:avLst>
          </a:prstGeom>
          <a:solidFill>
            <a:srgbClr val="EAF0F8"/>
          </a:solidFill>
          <a:ln/>
        </p:spPr>
      </p:sp>
      <p:sp>
        <p:nvSpPr>
          <p:cNvPr id="20" name="Text 18"/>
          <p:cNvSpPr txBox="1"/>
          <p:nvPr/>
        </p:nvSpPr>
        <p:spPr>
          <a:xfrm>
            <a:off x="4368698"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Load testing</a:t>
            </a:r>
            <a:endParaRPr lang="en-US" sz="1300" dirty="0"/>
          </a:p>
        </p:txBody>
      </p:sp>
      <p:sp>
        <p:nvSpPr>
          <p:cNvPr id="21" name="Shape 19"/>
          <p:cNvSpPr/>
          <p:nvPr/>
        </p:nvSpPr>
        <p:spPr>
          <a:xfrm>
            <a:off x="8097317" y="3703320"/>
            <a:ext cx="3545738" cy="594360"/>
          </a:xfrm>
          <a:prstGeom prst="roundRect">
            <a:avLst>
              <a:gd name="adj" fmla="val 12308"/>
            </a:avLst>
          </a:prstGeom>
          <a:solidFill>
            <a:srgbClr val="EAF0F8"/>
          </a:solidFill>
          <a:ln/>
        </p:spPr>
      </p:sp>
      <p:sp>
        <p:nvSpPr>
          <p:cNvPr id="22" name="Text 20"/>
          <p:cNvSpPr txBox="1"/>
          <p:nvPr/>
        </p:nvSpPr>
        <p:spPr>
          <a:xfrm>
            <a:off x="8143037"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Backup &amp; restore testing</a:t>
            </a:r>
            <a:endParaRPr lang="en-US" sz="1300" dirty="0"/>
          </a:p>
        </p:txBody>
      </p:sp>
      <p:sp>
        <p:nvSpPr>
          <p:cNvPr id="23" name="Shape 21"/>
          <p:cNvSpPr/>
          <p:nvPr/>
        </p:nvSpPr>
        <p:spPr>
          <a:xfrm>
            <a:off x="548640" y="4846320"/>
            <a:ext cx="11094415" cy="1051560"/>
          </a:xfrm>
          <a:prstGeom prst="roundRect">
            <a:avLst>
              <a:gd name="adj" fmla="val 8696"/>
            </a:avLst>
          </a:prstGeom>
          <a:solidFill>
            <a:srgbClr val="16233F"/>
          </a:solidFill>
          <a:ln/>
        </p:spPr>
      </p:sp>
      <p:sp>
        <p:nvSpPr>
          <p:cNvPr id="24" name="Text 22"/>
          <p:cNvSpPr txBox="1"/>
          <p:nvPr/>
        </p:nvSpPr>
        <p:spPr>
          <a:xfrm>
            <a:off x="914400" y="4846320"/>
            <a:ext cx="10362895" cy="1051560"/>
          </a:xfrm>
          <a:prstGeom prst="rect">
            <a:avLst/>
          </a:prstGeom>
          <a:noFill/>
          <a:ln/>
        </p:spPr>
        <p:txBody>
          <a:bodyPr wrap="square" rtlCol="0" anchor="ctr"/>
          <a:lstStyle/>
          <a:p>
            <a:pPr algn="ctr" indent="0" marL="0">
              <a:buNone/>
            </a:pPr>
            <a:r>
              <a:rPr lang="en-US" sz="1550" b="1" i="1" dirty="0">
                <a:solidFill>
                  <a:srgbClr val="FFFFFF"/>
                </a:solidFill>
                <a:latin typeface="Cambria" pitchFamily="34" charset="0"/>
                <a:ea typeface="Cambria" pitchFamily="34" charset="-122"/>
                <a:cs typeface="Cambria" pitchFamily="34" charset="-120"/>
              </a:rPr>
              <a:t>“AI accelerated implementation and troubleshooting, while final architectural decisions, security controls, testing, and acceptance remained human-controlled.”</a:t>
            </a:r>
            <a:endParaRPr lang="en-US" sz="1550" dirty="0"/>
          </a:p>
        </p:txBody>
      </p:sp>
      <p:sp>
        <p:nvSpPr>
          <p:cNvPr id="25" name="Text 2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Final AWS Architecture</a:t>
            </a:r>
            <a:endParaRPr lang="en-US" sz="3200" dirty="0"/>
          </a:p>
        </p:txBody>
      </p:sp>
      <p:sp>
        <p:nvSpPr>
          <p:cNvPr id="4" name="Shape 2"/>
          <p:cNvSpPr/>
          <p:nvPr/>
        </p:nvSpPr>
        <p:spPr>
          <a:xfrm>
            <a:off x="548640" y="1554480"/>
            <a:ext cx="1737360" cy="685800"/>
          </a:xfrm>
          <a:prstGeom prst="roundRect">
            <a:avLst>
              <a:gd name="adj" fmla="val 10667"/>
            </a:avLst>
          </a:prstGeom>
          <a:solidFill>
            <a:srgbClr val="1E3A5F"/>
          </a:solidFill>
          <a:ln/>
        </p:spPr>
      </p:sp>
      <p:sp>
        <p:nvSpPr>
          <p:cNvPr id="5" name="Text 3"/>
          <p:cNvSpPr txBox="1"/>
          <p:nvPr/>
        </p:nvSpPr>
        <p:spPr>
          <a:xfrm>
            <a:off x="548640" y="155448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GitHub Actions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(AWS OIDC)</a:t>
            </a:r>
            <a:endParaRPr lang="en-US" sz="1100" dirty="0"/>
          </a:p>
        </p:txBody>
      </p:sp>
      <p:sp>
        <p:nvSpPr>
          <p:cNvPr id="6" name="Shape 4"/>
          <p:cNvSpPr/>
          <p:nvPr/>
        </p:nvSpPr>
        <p:spPr>
          <a:xfrm>
            <a:off x="2697480" y="1554480"/>
            <a:ext cx="1554480" cy="685800"/>
          </a:xfrm>
          <a:prstGeom prst="roundRect">
            <a:avLst>
              <a:gd name="adj" fmla="val 10667"/>
            </a:avLst>
          </a:prstGeom>
          <a:solidFill>
            <a:srgbClr val="2C6E9E"/>
          </a:solidFill>
          <a:ln/>
        </p:spPr>
      </p:sp>
      <p:sp>
        <p:nvSpPr>
          <p:cNvPr id="7" name="Text 5"/>
          <p:cNvSpPr txBox="1"/>
          <p:nvPr/>
        </p:nvSpPr>
        <p:spPr>
          <a:xfrm>
            <a:off x="2697480" y="1554480"/>
            <a:ext cx="15544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Amazon ECR</a:t>
            </a:r>
            <a:endParaRPr lang="en-US" sz="1100" dirty="0"/>
          </a:p>
        </p:txBody>
      </p:sp>
      <p:sp>
        <p:nvSpPr>
          <p:cNvPr id="8" name="Shape 6"/>
          <p:cNvSpPr/>
          <p:nvPr/>
        </p:nvSpPr>
        <p:spPr>
          <a:xfrm>
            <a:off x="4572000" y="1554480"/>
            <a:ext cx="1737360" cy="685800"/>
          </a:xfrm>
          <a:prstGeom prst="roundRect">
            <a:avLst>
              <a:gd name="adj" fmla="val 10667"/>
            </a:avLst>
          </a:prstGeom>
          <a:solidFill>
            <a:srgbClr val="2C6E9E"/>
          </a:solidFill>
          <a:ln/>
        </p:spPr>
      </p:sp>
      <p:sp>
        <p:nvSpPr>
          <p:cNvPr id="9" name="Text 7"/>
          <p:cNvSpPr txBox="1"/>
          <p:nvPr/>
        </p:nvSpPr>
        <p:spPr>
          <a:xfrm>
            <a:off x="4572000" y="155448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Secrets Manager</a:t>
            </a:r>
            <a:endParaRPr lang="en-US" sz="1100" dirty="0"/>
          </a:p>
        </p:txBody>
      </p:sp>
      <p:sp>
        <p:nvSpPr>
          <p:cNvPr id="10" name="Shape 8"/>
          <p:cNvSpPr/>
          <p:nvPr/>
        </p:nvSpPr>
        <p:spPr>
          <a:xfrm>
            <a:off x="6629400" y="1554480"/>
            <a:ext cx="1645920" cy="685800"/>
          </a:xfrm>
          <a:prstGeom prst="roundRect">
            <a:avLst>
              <a:gd name="adj" fmla="val 10667"/>
            </a:avLst>
          </a:prstGeom>
          <a:solidFill>
            <a:srgbClr val="2C6E9E"/>
          </a:solidFill>
          <a:ln/>
        </p:spPr>
      </p:sp>
      <p:sp>
        <p:nvSpPr>
          <p:cNvPr id="11" name="Text 9"/>
          <p:cNvSpPr txBox="1"/>
          <p:nvPr/>
        </p:nvSpPr>
        <p:spPr>
          <a:xfrm>
            <a:off x="6629400" y="1554480"/>
            <a:ext cx="16459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CloudWatch</a:t>
            </a:r>
            <a:endParaRPr lang="en-US" sz="1100" dirty="0"/>
          </a:p>
        </p:txBody>
      </p:sp>
      <p:sp>
        <p:nvSpPr>
          <p:cNvPr id="12" name="Shape 10"/>
          <p:cNvSpPr/>
          <p:nvPr/>
        </p:nvSpPr>
        <p:spPr>
          <a:xfrm>
            <a:off x="2743200" y="2788920"/>
            <a:ext cx="6309360" cy="1371600"/>
          </a:xfrm>
          <a:prstGeom prst="roundRect">
            <a:avLst>
              <a:gd name="adj" fmla="val 5333"/>
            </a:avLst>
          </a:prstGeom>
          <a:ln w="19050">
            <a:solidFill>
              <a:srgbClr val="51607A"/>
            </a:solidFill>
            <a:prstDash val="dash"/>
          </a:ln>
        </p:spPr>
      </p:sp>
      <p:sp>
        <p:nvSpPr>
          <p:cNvPr id="13" name="Text 11"/>
          <p:cNvSpPr txBox="1"/>
          <p:nvPr/>
        </p:nvSpPr>
        <p:spPr>
          <a:xfrm>
            <a:off x="2880360" y="2404872"/>
            <a:ext cx="2743200" cy="274320"/>
          </a:xfrm>
          <a:prstGeom prst="rect">
            <a:avLst/>
          </a:prstGeom>
          <a:noFill/>
          <a:ln/>
        </p:spPr>
        <p:txBody>
          <a:bodyPr wrap="square" rtlCol="0" anchor="ctr"/>
          <a:lstStyle/>
          <a:p>
            <a:pPr indent="0" marL="0">
              <a:buNone/>
            </a:pPr>
            <a:r>
              <a:rPr lang="en-US" sz="1050" i="1" dirty="0">
                <a:solidFill>
                  <a:srgbClr val="51607A"/>
                </a:solidFill>
                <a:latin typeface="Calibri" pitchFamily="34" charset="0"/>
                <a:ea typeface="Calibri" pitchFamily="34" charset="-122"/>
                <a:cs typeface="Calibri" pitchFamily="34" charset="-120"/>
              </a:rPr>
              <a:t>VPC — Private Subnets</a:t>
            </a:r>
            <a:endParaRPr lang="en-US" sz="1050" dirty="0"/>
          </a:p>
        </p:txBody>
      </p:sp>
      <p:sp>
        <p:nvSpPr>
          <p:cNvPr id="14" name="Shape 12"/>
          <p:cNvSpPr/>
          <p:nvPr/>
        </p:nvSpPr>
        <p:spPr>
          <a:xfrm>
            <a:off x="548640" y="3017520"/>
            <a:ext cx="1737360" cy="868680"/>
          </a:xfrm>
          <a:prstGeom prst="roundRect">
            <a:avLst>
              <a:gd name="adj" fmla="val 8421"/>
            </a:avLst>
          </a:prstGeom>
          <a:solidFill>
            <a:srgbClr val="1E3A5F"/>
          </a:solidFill>
          <a:ln/>
        </p:spPr>
      </p:sp>
      <p:sp>
        <p:nvSpPr>
          <p:cNvPr id="15" name="Text 13"/>
          <p:cNvSpPr txBox="1"/>
          <p:nvPr/>
        </p:nvSpPr>
        <p:spPr>
          <a:xfrm>
            <a:off x="548640" y="3017520"/>
            <a:ext cx="17373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 API</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Client</a:t>
            </a:r>
            <a:endParaRPr lang="en-US" sz="1100" dirty="0"/>
          </a:p>
        </p:txBody>
      </p:sp>
      <p:sp>
        <p:nvSpPr>
          <p:cNvPr id="16" name="Shape 14"/>
          <p:cNvSpPr/>
          <p:nvPr/>
        </p:nvSpPr>
        <p:spPr>
          <a:xfrm>
            <a:off x="3017520" y="3017520"/>
            <a:ext cx="1600200" cy="868680"/>
          </a:xfrm>
          <a:prstGeom prst="roundRect">
            <a:avLst>
              <a:gd name="adj" fmla="val 8421"/>
            </a:avLst>
          </a:prstGeom>
          <a:solidFill>
            <a:srgbClr val="2C6E9E"/>
          </a:solidFill>
          <a:ln/>
        </p:spPr>
      </p:sp>
      <p:sp>
        <p:nvSpPr>
          <p:cNvPr id="17" name="Text 15"/>
          <p:cNvSpPr txBox="1"/>
          <p:nvPr/>
        </p:nvSpPr>
        <p:spPr>
          <a:xfrm>
            <a:off x="3017520" y="3017520"/>
            <a:ext cx="160020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Load Balancer</a:t>
            </a:r>
            <a:endParaRPr lang="en-US" sz="1100" dirty="0"/>
          </a:p>
        </p:txBody>
      </p:sp>
      <p:sp>
        <p:nvSpPr>
          <p:cNvPr id="18" name="Shape 16"/>
          <p:cNvSpPr/>
          <p:nvPr/>
        </p:nvSpPr>
        <p:spPr>
          <a:xfrm>
            <a:off x="4892040" y="3017520"/>
            <a:ext cx="1920240" cy="868680"/>
          </a:xfrm>
          <a:prstGeom prst="roundRect">
            <a:avLst>
              <a:gd name="adj" fmla="val 8421"/>
            </a:avLst>
          </a:prstGeom>
          <a:solidFill>
            <a:srgbClr val="1CA7C9"/>
          </a:solidFill>
          <a:ln/>
        </p:spPr>
      </p:sp>
      <p:sp>
        <p:nvSpPr>
          <p:cNvPr id="19" name="Text 17"/>
          <p:cNvSpPr txBox="1"/>
          <p:nvPr/>
        </p:nvSpPr>
        <p:spPr>
          <a:xfrm>
            <a:off x="4892040" y="3017520"/>
            <a:ext cx="192024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ECS Fargate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(Spring Boot)</a:t>
            </a:r>
            <a:endParaRPr lang="en-US" sz="1100" dirty="0"/>
          </a:p>
        </p:txBody>
      </p:sp>
      <p:sp>
        <p:nvSpPr>
          <p:cNvPr id="20" name="Shape 18"/>
          <p:cNvSpPr/>
          <p:nvPr/>
        </p:nvSpPr>
        <p:spPr>
          <a:xfrm>
            <a:off x="7086600" y="3017520"/>
            <a:ext cx="1691640" cy="868680"/>
          </a:xfrm>
          <a:prstGeom prst="roundRect">
            <a:avLst>
              <a:gd name="adj" fmla="val 8421"/>
            </a:avLst>
          </a:prstGeom>
          <a:solidFill>
            <a:srgbClr val="1E3A5F"/>
          </a:solidFill>
          <a:ln/>
        </p:spPr>
      </p:sp>
      <p:sp>
        <p:nvSpPr>
          <p:cNvPr id="21" name="Text 19"/>
          <p:cNvSpPr txBox="1"/>
          <p:nvPr/>
        </p:nvSpPr>
        <p:spPr>
          <a:xfrm>
            <a:off x="7086600" y="3017520"/>
            <a:ext cx="169164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RDS MySQL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(private)</a:t>
            </a:r>
            <a:endParaRPr lang="en-US" sz="1100" dirty="0"/>
          </a:p>
        </p:txBody>
      </p:sp>
      <p:sp>
        <p:nvSpPr>
          <p:cNvPr id="22" name="Shape 20"/>
          <p:cNvSpPr/>
          <p:nvPr/>
        </p:nvSpPr>
        <p:spPr>
          <a:xfrm>
            <a:off x="4617720" y="5074920"/>
            <a:ext cx="2468880" cy="777240"/>
          </a:xfrm>
          <a:prstGeom prst="roundRect">
            <a:avLst>
              <a:gd name="adj" fmla="val 9412"/>
            </a:avLst>
          </a:prstGeom>
          <a:solidFill>
            <a:srgbClr val="2BAE66"/>
          </a:solidFill>
          <a:ln/>
        </p:spPr>
      </p:sp>
      <p:sp>
        <p:nvSpPr>
          <p:cNvPr id="23" name="Text 21"/>
          <p:cNvSpPr txBox="1"/>
          <p:nvPr/>
        </p:nvSpPr>
        <p:spPr>
          <a:xfrm>
            <a:off x="4617720" y="5074920"/>
            <a:ext cx="24688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Persistent Versioned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S3 Archive</a:t>
            </a:r>
            <a:endParaRPr lang="en-US" sz="1100" dirty="0"/>
          </a:p>
        </p:txBody>
      </p:sp>
      <p:sp>
        <p:nvSpPr>
          <p:cNvPr id="24" name="Shape 22"/>
          <p:cNvSpPr/>
          <p:nvPr/>
        </p:nvSpPr>
        <p:spPr>
          <a:xfrm>
            <a:off x="2331720" y="3451860"/>
            <a:ext cx="640080" cy="0"/>
          </a:xfrm>
          <a:prstGeom prst="line">
            <a:avLst/>
          </a:prstGeom>
          <a:noFill/>
          <a:ln w="19050">
            <a:solidFill>
              <a:srgbClr val="51607A"/>
            </a:solidFill>
            <a:prstDash val="solid"/>
            <a:tailEnd type="triangle"/>
          </a:ln>
        </p:spPr>
      </p:sp>
      <p:sp>
        <p:nvSpPr>
          <p:cNvPr id="25" name="Shape 23"/>
          <p:cNvSpPr/>
          <p:nvPr/>
        </p:nvSpPr>
        <p:spPr>
          <a:xfrm>
            <a:off x="4663440" y="3451860"/>
            <a:ext cx="182880" cy="0"/>
          </a:xfrm>
          <a:prstGeom prst="line">
            <a:avLst/>
          </a:prstGeom>
          <a:noFill/>
          <a:ln w="19050">
            <a:solidFill>
              <a:srgbClr val="51607A"/>
            </a:solidFill>
            <a:prstDash val="solid"/>
            <a:tailEnd type="triangle"/>
          </a:ln>
        </p:spPr>
      </p:sp>
      <p:sp>
        <p:nvSpPr>
          <p:cNvPr id="26" name="Shape 24"/>
          <p:cNvSpPr/>
          <p:nvPr/>
        </p:nvSpPr>
        <p:spPr>
          <a:xfrm>
            <a:off x="6858000" y="3451860"/>
            <a:ext cx="182880" cy="0"/>
          </a:xfrm>
          <a:prstGeom prst="line">
            <a:avLst/>
          </a:prstGeom>
          <a:noFill/>
          <a:ln w="19050">
            <a:solidFill>
              <a:srgbClr val="51607A"/>
            </a:solidFill>
            <a:prstDash val="solid"/>
            <a:tailEnd type="triangle"/>
          </a:ln>
        </p:spPr>
      </p:sp>
      <p:sp>
        <p:nvSpPr>
          <p:cNvPr id="27" name="Shape 25"/>
          <p:cNvSpPr/>
          <p:nvPr/>
        </p:nvSpPr>
        <p:spPr>
          <a:xfrm>
            <a:off x="1417320" y="2267712"/>
            <a:ext cx="0" cy="201168"/>
          </a:xfrm>
          <a:prstGeom prst="line">
            <a:avLst/>
          </a:prstGeom>
          <a:noFill/>
          <a:ln w="19050">
            <a:solidFill>
              <a:srgbClr val="51607A"/>
            </a:solidFill>
            <a:prstDash val="solid"/>
            <a:tailEnd type="triangle"/>
          </a:ln>
        </p:spPr>
      </p:sp>
      <p:sp>
        <p:nvSpPr>
          <p:cNvPr id="28" name="Shape 26"/>
          <p:cNvSpPr/>
          <p:nvPr/>
        </p:nvSpPr>
        <p:spPr>
          <a:xfrm>
            <a:off x="3474720" y="2267712"/>
            <a:ext cx="0" cy="704088"/>
          </a:xfrm>
          <a:prstGeom prst="line">
            <a:avLst/>
          </a:prstGeom>
          <a:noFill/>
          <a:ln w="19050">
            <a:solidFill>
              <a:srgbClr val="51607A"/>
            </a:solidFill>
            <a:prstDash val="solid"/>
            <a:tailEnd type="triangle"/>
          </a:ln>
        </p:spPr>
      </p:sp>
      <p:sp>
        <p:nvSpPr>
          <p:cNvPr id="29" name="Shape 27"/>
          <p:cNvSpPr/>
          <p:nvPr/>
        </p:nvSpPr>
        <p:spPr>
          <a:xfrm>
            <a:off x="5440680" y="2267712"/>
            <a:ext cx="0" cy="704088"/>
          </a:xfrm>
          <a:prstGeom prst="line">
            <a:avLst/>
          </a:prstGeom>
          <a:noFill/>
          <a:ln w="19050">
            <a:solidFill>
              <a:srgbClr val="51607A"/>
            </a:solidFill>
            <a:prstDash val="solid"/>
            <a:tailEnd type="triangle"/>
          </a:ln>
        </p:spPr>
      </p:sp>
      <p:sp>
        <p:nvSpPr>
          <p:cNvPr id="30" name="Shape 28"/>
          <p:cNvSpPr/>
          <p:nvPr/>
        </p:nvSpPr>
        <p:spPr>
          <a:xfrm>
            <a:off x="7452360" y="2971800"/>
            <a:ext cx="0" cy="-704088"/>
          </a:xfrm>
          <a:prstGeom prst="line">
            <a:avLst/>
          </a:prstGeom>
          <a:noFill/>
          <a:ln w="19050">
            <a:solidFill>
              <a:srgbClr val="51607A"/>
            </a:solidFill>
            <a:prstDash val="solid"/>
            <a:tailEnd type="triangle"/>
          </a:ln>
        </p:spPr>
      </p:sp>
      <p:sp>
        <p:nvSpPr>
          <p:cNvPr id="31" name="Shape 29"/>
          <p:cNvSpPr/>
          <p:nvPr/>
        </p:nvSpPr>
        <p:spPr>
          <a:xfrm>
            <a:off x="5852160" y="3931920"/>
            <a:ext cx="0" cy="1097280"/>
          </a:xfrm>
          <a:prstGeom prst="line">
            <a:avLst/>
          </a:prstGeom>
          <a:noFill/>
          <a:ln w="19050">
            <a:solidFill>
              <a:srgbClr val="51607A"/>
            </a:solidFill>
            <a:prstDash val="solid"/>
            <a:tailEnd type="triangle"/>
          </a:ln>
        </p:spPr>
      </p:sp>
      <p:sp>
        <p:nvSpPr>
          <p:cNvPr id="32" name="Text 30"/>
          <p:cNvSpPr txBox="1"/>
          <p:nvPr/>
        </p:nvSpPr>
        <p:spPr>
          <a:xfrm>
            <a:off x="548640" y="2468880"/>
            <a:ext cx="2011680" cy="256032"/>
          </a:xfrm>
          <a:prstGeom prst="rect">
            <a:avLst/>
          </a:prstGeom>
          <a:noFill/>
          <a:ln/>
        </p:spPr>
        <p:txBody>
          <a:bodyPr wrap="square" rtlCol="0" anchor="ctr"/>
          <a:lstStyle/>
          <a:p>
            <a:pPr indent="0" marL="0">
              <a:buNone/>
            </a:pPr>
            <a:r>
              <a:rPr lang="en-US" sz="900" i="1" dirty="0">
                <a:solidFill>
                  <a:srgbClr val="51607A"/>
                </a:solidFill>
                <a:latin typeface="Calibri" pitchFamily="34" charset="0"/>
                <a:ea typeface="Calibri" pitchFamily="34" charset="-122"/>
                <a:cs typeface="Calibri" pitchFamily="34" charset="-120"/>
              </a:rPr>
              <a:t>OIDC deploy path</a:t>
            </a:r>
            <a:endParaRPr lang="en-US" sz="900" dirty="0"/>
          </a:p>
        </p:txBody>
      </p:sp>
      <p:sp>
        <p:nvSpPr>
          <p:cNvPr id="33" name="Text 31"/>
          <p:cNvSpPr txBox="1"/>
          <p:nvPr/>
        </p:nvSpPr>
        <p:spPr>
          <a:xfrm>
            <a:off x="4526280" y="3959352"/>
            <a:ext cx="2377440" cy="228600"/>
          </a:xfrm>
          <a:prstGeom prst="rect">
            <a:avLst/>
          </a:prstGeom>
          <a:noFill/>
          <a:ln/>
        </p:spPr>
        <p:txBody>
          <a:bodyPr wrap="square" rtlCol="0" anchor="ctr"/>
          <a:lstStyle/>
          <a:p>
            <a:pPr indent="0" marL="0">
              <a:buNone/>
            </a:pPr>
            <a:r>
              <a:rPr lang="en-US" sz="900" i="1" dirty="0">
                <a:solidFill>
                  <a:srgbClr val="51607A"/>
                </a:solidFill>
                <a:latin typeface="Calibri" pitchFamily="34" charset="0"/>
                <a:ea typeface="Calibri" pitchFamily="34" charset="-122"/>
                <a:cs typeface="Calibri" pitchFamily="34" charset="-120"/>
              </a:rPr>
              <a:t>backups &amp; logs</a:t>
            </a:r>
            <a:endParaRPr lang="en-US" sz="900" dirty="0"/>
          </a:p>
        </p:txBody>
      </p:sp>
      <p:sp>
        <p:nvSpPr>
          <p:cNvPr id="34" name="Text 3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INFRASTRUCTURE AS CODE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Modular Terraform Across Three Environments</a:t>
            </a:r>
            <a:endParaRPr lang="en-US" sz="3200" dirty="0"/>
          </a:p>
        </p:txBody>
      </p:sp>
      <p:sp>
        <p:nvSpPr>
          <p:cNvPr id="4" name="Shape 2"/>
          <p:cNvSpPr/>
          <p:nvPr/>
        </p:nvSpPr>
        <p:spPr>
          <a:xfrm>
            <a:off x="548640" y="1737360"/>
            <a:ext cx="3484778" cy="2286000"/>
          </a:xfrm>
          <a:prstGeom prst="roundRect">
            <a:avLst>
              <a:gd name="adj" fmla="val 4000"/>
            </a:avLst>
          </a:prstGeom>
          <a:solidFill>
            <a:srgbClr val="EAF0F8"/>
          </a:solidFill>
          <a:ln/>
        </p:spPr>
      </p:sp>
      <p:sp>
        <p:nvSpPr>
          <p:cNvPr id="5" name="Text 3"/>
          <p:cNvSpPr txBox="1"/>
          <p:nvPr/>
        </p:nvSpPr>
        <p:spPr>
          <a:xfrm>
            <a:off x="777240"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Dev Environment</a:t>
            </a:r>
            <a:endParaRPr lang="en-US" sz="1500" dirty="0"/>
          </a:p>
        </p:txBody>
      </p:sp>
      <p:sp>
        <p:nvSpPr>
          <p:cNvPr id="6" name="Text 4"/>
          <p:cNvSpPr txBox="1"/>
          <p:nvPr/>
        </p:nvSpPr>
        <p:spPr>
          <a:xfrm>
            <a:off x="777240"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Recreated through approved workflow</a:t>
            </a:r>
            <a:endParaRPr lang="en-US" sz="1200" dirty="0"/>
          </a:p>
        </p:txBody>
      </p:sp>
      <p:sp>
        <p:nvSpPr>
          <p:cNvPr id="7" name="Shape 5"/>
          <p:cNvSpPr/>
          <p:nvPr/>
        </p:nvSpPr>
        <p:spPr>
          <a:xfrm>
            <a:off x="777240" y="3429000"/>
            <a:ext cx="3027578" cy="411480"/>
          </a:xfrm>
          <a:prstGeom prst="roundRect">
            <a:avLst>
              <a:gd name="adj" fmla="val 17778"/>
            </a:avLst>
          </a:prstGeom>
          <a:solidFill>
            <a:srgbClr val="2BAE66"/>
          </a:solidFill>
          <a:ln/>
        </p:spPr>
      </p:sp>
      <p:sp>
        <p:nvSpPr>
          <p:cNvPr id="8" name="Text 6"/>
          <p:cNvSpPr txBox="1"/>
          <p:nvPr/>
        </p:nvSpPr>
        <p:spPr>
          <a:xfrm>
            <a:off x="822960"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Applied</a:t>
            </a:r>
            <a:endParaRPr lang="en-US" sz="1100" dirty="0"/>
          </a:p>
        </p:txBody>
      </p:sp>
      <p:sp>
        <p:nvSpPr>
          <p:cNvPr id="9" name="Shape 7"/>
          <p:cNvSpPr/>
          <p:nvPr/>
        </p:nvSpPr>
        <p:spPr>
          <a:xfrm>
            <a:off x="4353458" y="1737360"/>
            <a:ext cx="3484778" cy="2286000"/>
          </a:xfrm>
          <a:prstGeom prst="roundRect">
            <a:avLst>
              <a:gd name="adj" fmla="val 4000"/>
            </a:avLst>
          </a:prstGeom>
          <a:solidFill>
            <a:srgbClr val="EAF0F8"/>
          </a:solidFill>
          <a:ln/>
        </p:spPr>
      </p:sp>
      <p:sp>
        <p:nvSpPr>
          <p:cNvPr id="10" name="Text 8"/>
          <p:cNvSpPr txBox="1"/>
          <p:nvPr/>
        </p:nvSpPr>
        <p:spPr>
          <a:xfrm>
            <a:off x="4582058"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Production Environment</a:t>
            </a:r>
            <a:endParaRPr lang="en-US" sz="1500" dirty="0"/>
          </a:p>
        </p:txBody>
      </p:sp>
      <p:sp>
        <p:nvSpPr>
          <p:cNvPr id="11" name="Text 9"/>
          <p:cNvSpPr txBox="1"/>
          <p:nvPr/>
        </p:nvSpPr>
        <p:spPr>
          <a:xfrm>
            <a:off x="4582058"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Terraform validated but not applied</a:t>
            </a:r>
            <a:endParaRPr lang="en-US" sz="1200" dirty="0"/>
          </a:p>
        </p:txBody>
      </p:sp>
      <p:sp>
        <p:nvSpPr>
          <p:cNvPr id="12" name="Shape 10"/>
          <p:cNvSpPr/>
          <p:nvPr/>
        </p:nvSpPr>
        <p:spPr>
          <a:xfrm>
            <a:off x="4582058" y="3429000"/>
            <a:ext cx="3027578" cy="411480"/>
          </a:xfrm>
          <a:prstGeom prst="roundRect">
            <a:avLst>
              <a:gd name="adj" fmla="val 17778"/>
            </a:avLst>
          </a:prstGeom>
          <a:solidFill>
            <a:srgbClr val="D99A28"/>
          </a:solidFill>
          <a:ln/>
        </p:spPr>
      </p:sp>
      <p:sp>
        <p:nvSpPr>
          <p:cNvPr id="13" name="Text 11"/>
          <p:cNvSpPr txBox="1"/>
          <p:nvPr/>
        </p:nvSpPr>
        <p:spPr>
          <a:xfrm>
            <a:off x="4627778"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Validated — Not Applied</a:t>
            </a:r>
            <a:endParaRPr lang="en-US" sz="1100" dirty="0"/>
          </a:p>
        </p:txBody>
      </p:sp>
      <p:sp>
        <p:nvSpPr>
          <p:cNvPr id="14" name="Shape 12"/>
          <p:cNvSpPr/>
          <p:nvPr/>
        </p:nvSpPr>
        <p:spPr>
          <a:xfrm>
            <a:off x="8158277" y="1737360"/>
            <a:ext cx="3484778" cy="2286000"/>
          </a:xfrm>
          <a:prstGeom prst="roundRect">
            <a:avLst>
              <a:gd name="adj" fmla="val 4000"/>
            </a:avLst>
          </a:prstGeom>
          <a:solidFill>
            <a:srgbClr val="EAF0F8"/>
          </a:solidFill>
          <a:ln/>
        </p:spPr>
      </p:sp>
      <p:sp>
        <p:nvSpPr>
          <p:cNvPr id="15" name="Text 13"/>
          <p:cNvSpPr txBox="1"/>
          <p:nvPr/>
        </p:nvSpPr>
        <p:spPr>
          <a:xfrm>
            <a:off x="8386877"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Persistent Archive</a:t>
            </a:r>
            <a:endParaRPr lang="en-US" sz="1500" dirty="0"/>
          </a:p>
        </p:txBody>
      </p:sp>
      <p:sp>
        <p:nvSpPr>
          <p:cNvPr id="16" name="Text 14"/>
          <p:cNvSpPr txBox="1"/>
          <p:nvPr/>
        </p:nvSpPr>
        <p:spPr>
          <a:xfrm>
            <a:off x="8386877"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Independent state; survives environment teardown</a:t>
            </a:r>
            <a:endParaRPr lang="en-US" sz="1200" dirty="0"/>
          </a:p>
        </p:txBody>
      </p:sp>
      <p:sp>
        <p:nvSpPr>
          <p:cNvPr id="17" name="Shape 15"/>
          <p:cNvSpPr/>
          <p:nvPr/>
        </p:nvSpPr>
        <p:spPr>
          <a:xfrm>
            <a:off x="8386877" y="3429000"/>
            <a:ext cx="3027578" cy="411480"/>
          </a:xfrm>
          <a:prstGeom prst="roundRect">
            <a:avLst>
              <a:gd name="adj" fmla="val 17778"/>
            </a:avLst>
          </a:prstGeom>
          <a:solidFill>
            <a:srgbClr val="2C6E9E"/>
          </a:solidFill>
          <a:ln/>
        </p:spPr>
      </p:sp>
      <p:sp>
        <p:nvSpPr>
          <p:cNvPr id="18" name="Text 16"/>
          <p:cNvSpPr txBox="1"/>
          <p:nvPr/>
        </p:nvSpPr>
        <p:spPr>
          <a:xfrm>
            <a:off x="8432597"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Applied</a:t>
            </a:r>
            <a:endParaRPr lang="en-US" sz="1100" dirty="0"/>
          </a:p>
        </p:txBody>
      </p:sp>
      <p:sp>
        <p:nvSpPr>
          <p:cNvPr id="19" name="Text 17"/>
          <p:cNvSpPr txBox="1"/>
          <p:nvPr/>
        </p:nvSpPr>
        <p:spPr>
          <a:xfrm>
            <a:off x="548640" y="4389120"/>
            <a:ext cx="11094415" cy="822960"/>
          </a:xfrm>
          <a:prstGeom prst="rect">
            <a:avLst/>
          </a:prstGeom>
          <a:noFill/>
          <a:ln/>
        </p:spPr>
        <p:txBody>
          <a:bodyPr wrap="square" rtlCol="0" anchor="ctr"/>
          <a:lstStyle/>
          <a:p>
            <a:pPr indent="0" marL="0">
              <a:buNone/>
            </a:pPr>
            <a:r>
              <a:rPr lang="en-US" sz="1300" dirty="0">
                <a:solidFill>
                  <a:srgbClr val="51607A"/>
                </a:solidFill>
                <a:latin typeface="Calibri" pitchFamily="34" charset="0"/>
                <a:ea typeface="Calibri" pitchFamily="34" charset="-122"/>
                <a:cs typeface="Calibri" pitchFamily="34" charset="-120"/>
              </a:rPr>
              <a:t>Modular design: reusable Terraform modules for networking (VPC), compute (ECS Fargate), data (RDS), security (IAM, KMS, security groups), and observability (CloudWatch) are composed per environment.</a:t>
            </a:r>
            <a:endParaRPr lang="en-US" sz="1300" dirty="0"/>
          </a:p>
        </p:txBody>
      </p:sp>
      <p:sp>
        <p:nvSpPr>
          <p:cNvPr id="20" name="Text 18"/>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CONTINUOUS INTEGRATION</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CI Pipeline — GitHub Actions Checks</a:t>
            </a:r>
            <a:endParaRPr lang="en-US" sz="3200" dirty="0"/>
          </a:p>
        </p:txBody>
      </p:sp>
      <p:sp>
        <p:nvSpPr>
          <p:cNvPr id="4" name="Shape 2"/>
          <p:cNvSpPr/>
          <p:nvPr/>
        </p:nvSpPr>
        <p:spPr>
          <a:xfrm>
            <a:off x="548640" y="2103120"/>
            <a:ext cx="530352" cy="530352"/>
          </a:xfrm>
          <a:prstGeom prst="ellipse">
            <a:avLst/>
          </a:prstGeom>
          <a:solidFill>
            <a:srgbClr val="2C6E9E"/>
          </a:solidFill>
          <a:ln/>
        </p:spPr>
      </p:sp>
      <p:sp>
        <p:nvSpPr>
          <p:cNvPr id="5" name="Text 3"/>
          <p:cNvSpPr txBox="1"/>
          <p:nvPr/>
        </p:nvSpPr>
        <p:spPr>
          <a:xfrm>
            <a:off x="548640"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73736"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Maven</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Tests</a:t>
            </a:r>
            <a:endParaRPr lang="en-US" sz="1050" dirty="0"/>
          </a:p>
        </p:txBody>
      </p:sp>
      <p:sp>
        <p:nvSpPr>
          <p:cNvPr id="7" name="Shape 5"/>
          <p:cNvSpPr/>
          <p:nvPr/>
        </p:nvSpPr>
        <p:spPr>
          <a:xfrm>
            <a:off x="1115568" y="2368296"/>
            <a:ext cx="717004" cy="0"/>
          </a:xfrm>
          <a:prstGeom prst="line">
            <a:avLst/>
          </a:prstGeom>
          <a:noFill/>
          <a:ln w="19050">
            <a:solidFill>
              <a:srgbClr val="51607A"/>
            </a:solidFill>
            <a:prstDash val="solid"/>
            <a:tailEnd type="triangle"/>
          </a:ln>
        </p:spPr>
      </p:sp>
      <p:sp>
        <p:nvSpPr>
          <p:cNvPr id="8" name="Shape 6"/>
          <p:cNvSpPr/>
          <p:nvPr/>
        </p:nvSpPr>
        <p:spPr>
          <a:xfrm>
            <a:off x="1869148" y="2103120"/>
            <a:ext cx="530352" cy="530352"/>
          </a:xfrm>
          <a:prstGeom prst="ellipse">
            <a:avLst/>
          </a:prstGeom>
          <a:solidFill>
            <a:srgbClr val="2C6E9E"/>
          </a:solidFill>
          <a:ln/>
        </p:spPr>
      </p:sp>
      <p:sp>
        <p:nvSpPr>
          <p:cNvPr id="9" name="Text 7"/>
          <p:cNvSpPr txBox="1"/>
          <p:nvPr/>
        </p:nvSpPr>
        <p:spPr>
          <a:xfrm>
            <a:off x="1869148"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494244"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Maven Package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 JAR Artifact</a:t>
            </a:r>
            <a:endParaRPr lang="en-US" sz="1050" dirty="0"/>
          </a:p>
        </p:txBody>
      </p:sp>
      <p:sp>
        <p:nvSpPr>
          <p:cNvPr id="11" name="Shape 9"/>
          <p:cNvSpPr/>
          <p:nvPr/>
        </p:nvSpPr>
        <p:spPr>
          <a:xfrm>
            <a:off x="2436076" y="2368296"/>
            <a:ext cx="717004" cy="0"/>
          </a:xfrm>
          <a:prstGeom prst="line">
            <a:avLst/>
          </a:prstGeom>
          <a:noFill/>
          <a:ln w="19050">
            <a:solidFill>
              <a:srgbClr val="51607A"/>
            </a:solidFill>
            <a:prstDash val="solid"/>
            <a:tailEnd type="triangle"/>
          </a:ln>
        </p:spPr>
      </p:sp>
      <p:sp>
        <p:nvSpPr>
          <p:cNvPr id="12" name="Shape 10"/>
          <p:cNvSpPr/>
          <p:nvPr/>
        </p:nvSpPr>
        <p:spPr>
          <a:xfrm>
            <a:off x="3189656" y="2103120"/>
            <a:ext cx="530352" cy="530352"/>
          </a:xfrm>
          <a:prstGeom prst="ellipse">
            <a:avLst/>
          </a:prstGeom>
          <a:solidFill>
            <a:srgbClr val="D99A28"/>
          </a:solidFill>
          <a:ln/>
        </p:spPr>
      </p:sp>
      <p:sp>
        <p:nvSpPr>
          <p:cNvPr id="13" name="Text 11"/>
          <p:cNvSpPr txBox="1"/>
          <p:nvPr/>
        </p:nvSpPr>
        <p:spPr>
          <a:xfrm>
            <a:off x="3189656"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2814752"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Gitleaks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Scan</a:t>
            </a:r>
            <a:endParaRPr lang="en-US" sz="1050" dirty="0"/>
          </a:p>
        </p:txBody>
      </p:sp>
      <p:sp>
        <p:nvSpPr>
          <p:cNvPr id="15" name="Shape 13"/>
          <p:cNvSpPr/>
          <p:nvPr/>
        </p:nvSpPr>
        <p:spPr>
          <a:xfrm>
            <a:off x="3756584" y="2368296"/>
            <a:ext cx="717004" cy="0"/>
          </a:xfrm>
          <a:prstGeom prst="line">
            <a:avLst/>
          </a:prstGeom>
          <a:noFill/>
          <a:ln w="19050">
            <a:solidFill>
              <a:srgbClr val="51607A"/>
            </a:solidFill>
            <a:prstDash val="solid"/>
            <a:tailEnd type="triangle"/>
          </a:ln>
        </p:spPr>
      </p:sp>
      <p:sp>
        <p:nvSpPr>
          <p:cNvPr id="16" name="Shape 14"/>
          <p:cNvSpPr/>
          <p:nvPr/>
        </p:nvSpPr>
        <p:spPr>
          <a:xfrm>
            <a:off x="4510164" y="2103120"/>
            <a:ext cx="530352" cy="530352"/>
          </a:xfrm>
          <a:prstGeom prst="ellipse">
            <a:avLst/>
          </a:prstGeom>
          <a:solidFill>
            <a:srgbClr val="2C6E9E"/>
          </a:solidFill>
          <a:ln/>
        </p:spPr>
      </p:sp>
      <p:sp>
        <p:nvSpPr>
          <p:cNvPr id="17" name="Text 15"/>
          <p:cNvSpPr txBox="1"/>
          <p:nvPr/>
        </p:nvSpPr>
        <p:spPr>
          <a:xfrm>
            <a:off x="4510164"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135260"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Terraform Fmt</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&amp; Validate</a:t>
            </a:r>
            <a:endParaRPr lang="en-US" sz="1050" dirty="0"/>
          </a:p>
        </p:txBody>
      </p:sp>
      <p:sp>
        <p:nvSpPr>
          <p:cNvPr id="19" name="Shape 17"/>
          <p:cNvSpPr/>
          <p:nvPr/>
        </p:nvSpPr>
        <p:spPr>
          <a:xfrm>
            <a:off x="5077092" y="2368296"/>
            <a:ext cx="717004" cy="0"/>
          </a:xfrm>
          <a:prstGeom prst="line">
            <a:avLst/>
          </a:prstGeom>
          <a:noFill/>
          <a:ln w="19050">
            <a:solidFill>
              <a:srgbClr val="51607A"/>
            </a:solidFill>
            <a:prstDash val="solid"/>
            <a:tailEnd type="triangle"/>
          </a:ln>
        </p:spPr>
      </p:sp>
      <p:sp>
        <p:nvSpPr>
          <p:cNvPr id="20" name="Shape 18"/>
          <p:cNvSpPr/>
          <p:nvPr/>
        </p:nvSpPr>
        <p:spPr>
          <a:xfrm>
            <a:off x="5830672" y="2103120"/>
            <a:ext cx="530352" cy="530352"/>
          </a:xfrm>
          <a:prstGeom prst="ellipse">
            <a:avLst/>
          </a:prstGeom>
          <a:solidFill>
            <a:srgbClr val="2BAE66"/>
          </a:solidFill>
          <a:ln/>
        </p:spPr>
      </p:sp>
      <p:sp>
        <p:nvSpPr>
          <p:cNvPr id="21" name="Text 19"/>
          <p:cNvSpPr txBox="1"/>
          <p:nvPr/>
        </p:nvSpPr>
        <p:spPr>
          <a:xfrm>
            <a:off x="5830672"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5455768"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Checkov</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(Terraform)</a:t>
            </a:r>
            <a:endParaRPr lang="en-US" sz="1050" dirty="0"/>
          </a:p>
        </p:txBody>
      </p:sp>
      <p:sp>
        <p:nvSpPr>
          <p:cNvPr id="23" name="Shape 21"/>
          <p:cNvSpPr/>
          <p:nvPr/>
        </p:nvSpPr>
        <p:spPr>
          <a:xfrm>
            <a:off x="6397600" y="2368296"/>
            <a:ext cx="717004" cy="0"/>
          </a:xfrm>
          <a:prstGeom prst="line">
            <a:avLst/>
          </a:prstGeom>
          <a:noFill/>
          <a:ln w="19050">
            <a:solidFill>
              <a:srgbClr val="51607A"/>
            </a:solidFill>
            <a:prstDash val="solid"/>
            <a:tailEnd type="triangle"/>
          </a:ln>
        </p:spPr>
      </p:sp>
      <p:sp>
        <p:nvSpPr>
          <p:cNvPr id="24" name="Shape 22"/>
          <p:cNvSpPr/>
          <p:nvPr/>
        </p:nvSpPr>
        <p:spPr>
          <a:xfrm>
            <a:off x="7151180" y="2103120"/>
            <a:ext cx="530352" cy="530352"/>
          </a:xfrm>
          <a:prstGeom prst="ellipse">
            <a:avLst/>
          </a:prstGeom>
          <a:solidFill>
            <a:srgbClr val="2BAE66"/>
          </a:solidFill>
          <a:ln/>
        </p:spPr>
      </p:sp>
      <p:sp>
        <p:nvSpPr>
          <p:cNvPr id="25" name="Text 23"/>
          <p:cNvSpPr txBox="1"/>
          <p:nvPr/>
        </p:nvSpPr>
        <p:spPr>
          <a:xfrm>
            <a:off x="7151180"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6776276"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Checkov</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(K8s Manifests)</a:t>
            </a:r>
            <a:endParaRPr lang="en-US" sz="1050" dirty="0"/>
          </a:p>
        </p:txBody>
      </p:sp>
      <p:sp>
        <p:nvSpPr>
          <p:cNvPr id="27" name="Shape 25"/>
          <p:cNvSpPr/>
          <p:nvPr/>
        </p:nvSpPr>
        <p:spPr>
          <a:xfrm>
            <a:off x="7718107" y="2368296"/>
            <a:ext cx="717004" cy="0"/>
          </a:xfrm>
          <a:prstGeom prst="line">
            <a:avLst/>
          </a:prstGeom>
          <a:noFill/>
          <a:ln w="19050">
            <a:solidFill>
              <a:srgbClr val="51607A"/>
            </a:solidFill>
            <a:prstDash val="solid"/>
            <a:tailEnd type="triangle"/>
          </a:ln>
        </p:spPr>
      </p:sp>
      <p:sp>
        <p:nvSpPr>
          <p:cNvPr id="28" name="Shape 26"/>
          <p:cNvSpPr/>
          <p:nvPr/>
        </p:nvSpPr>
        <p:spPr>
          <a:xfrm>
            <a:off x="8471687" y="2103120"/>
            <a:ext cx="530352" cy="530352"/>
          </a:xfrm>
          <a:prstGeom prst="ellipse">
            <a:avLst/>
          </a:prstGeom>
          <a:solidFill>
            <a:srgbClr val="1CA7C9"/>
          </a:solidFill>
          <a:ln/>
        </p:spPr>
      </p:sp>
      <p:sp>
        <p:nvSpPr>
          <p:cNvPr id="29" name="Text 27"/>
          <p:cNvSpPr txBox="1"/>
          <p:nvPr/>
        </p:nvSpPr>
        <p:spPr>
          <a:xfrm>
            <a:off x="8471687"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txBox="1"/>
          <p:nvPr/>
        </p:nvSpPr>
        <p:spPr>
          <a:xfrm>
            <a:off x="8096783"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Docker</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Image Build</a:t>
            </a:r>
            <a:endParaRPr lang="en-US" sz="1050" dirty="0"/>
          </a:p>
        </p:txBody>
      </p:sp>
      <p:sp>
        <p:nvSpPr>
          <p:cNvPr id="31" name="Shape 29"/>
          <p:cNvSpPr/>
          <p:nvPr/>
        </p:nvSpPr>
        <p:spPr>
          <a:xfrm>
            <a:off x="9038615" y="2368296"/>
            <a:ext cx="717004" cy="0"/>
          </a:xfrm>
          <a:prstGeom prst="line">
            <a:avLst/>
          </a:prstGeom>
          <a:noFill/>
          <a:ln w="19050">
            <a:solidFill>
              <a:srgbClr val="51607A"/>
            </a:solidFill>
            <a:prstDash val="solid"/>
            <a:tailEnd type="triangle"/>
          </a:ln>
        </p:spPr>
      </p:sp>
      <p:sp>
        <p:nvSpPr>
          <p:cNvPr id="32" name="Shape 30"/>
          <p:cNvSpPr/>
          <p:nvPr/>
        </p:nvSpPr>
        <p:spPr>
          <a:xfrm>
            <a:off x="9792195" y="2103120"/>
            <a:ext cx="530352" cy="530352"/>
          </a:xfrm>
          <a:prstGeom prst="ellipse">
            <a:avLst/>
          </a:prstGeom>
          <a:solidFill>
            <a:srgbClr val="D99A28"/>
          </a:solidFill>
          <a:ln/>
        </p:spPr>
      </p:sp>
      <p:sp>
        <p:nvSpPr>
          <p:cNvPr id="33" name="Text 31"/>
          <p:cNvSpPr txBox="1"/>
          <p:nvPr/>
        </p:nvSpPr>
        <p:spPr>
          <a:xfrm>
            <a:off x="9792195"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4" name="Text 32"/>
          <p:cNvSpPr txBox="1"/>
          <p:nvPr/>
        </p:nvSpPr>
        <p:spPr>
          <a:xfrm>
            <a:off x="9417291"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Trivy</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(Blocks High/Critical)</a:t>
            </a:r>
            <a:endParaRPr lang="en-US" sz="1050" dirty="0"/>
          </a:p>
        </p:txBody>
      </p:sp>
      <p:sp>
        <p:nvSpPr>
          <p:cNvPr id="35" name="Shape 33"/>
          <p:cNvSpPr/>
          <p:nvPr/>
        </p:nvSpPr>
        <p:spPr>
          <a:xfrm>
            <a:off x="10359123" y="2368296"/>
            <a:ext cx="717004" cy="0"/>
          </a:xfrm>
          <a:prstGeom prst="line">
            <a:avLst/>
          </a:prstGeom>
          <a:noFill/>
          <a:ln w="19050">
            <a:solidFill>
              <a:srgbClr val="51607A"/>
            </a:solidFill>
            <a:prstDash val="solid"/>
            <a:tailEnd type="triangle"/>
          </a:ln>
        </p:spPr>
      </p:sp>
      <p:sp>
        <p:nvSpPr>
          <p:cNvPr id="36" name="Shape 34"/>
          <p:cNvSpPr/>
          <p:nvPr/>
        </p:nvSpPr>
        <p:spPr>
          <a:xfrm>
            <a:off x="11112703" y="2103120"/>
            <a:ext cx="530352" cy="530352"/>
          </a:xfrm>
          <a:prstGeom prst="ellipse">
            <a:avLst/>
          </a:prstGeom>
          <a:solidFill>
            <a:srgbClr val="1E3A5F"/>
          </a:solidFill>
          <a:ln/>
        </p:spPr>
      </p:sp>
      <p:sp>
        <p:nvSpPr>
          <p:cNvPr id="37" name="Text 35"/>
          <p:cNvSpPr txBox="1"/>
          <p:nvPr/>
        </p:nvSpPr>
        <p:spPr>
          <a:xfrm>
            <a:off x="11112703"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38" name="Text 36"/>
          <p:cNvSpPr txBox="1"/>
          <p:nvPr/>
        </p:nvSpPr>
        <p:spPr>
          <a:xfrm>
            <a:off x="10737799"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Conditional</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Sonar Analysis</a:t>
            </a:r>
            <a:endParaRPr lang="en-US" sz="1050" dirty="0"/>
          </a:p>
        </p:txBody>
      </p:sp>
      <p:sp>
        <p:nvSpPr>
          <p:cNvPr id="39" name="Shape 37"/>
          <p:cNvSpPr/>
          <p:nvPr/>
        </p:nvSpPr>
        <p:spPr>
          <a:xfrm>
            <a:off x="548640" y="4480560"/>
            <a:ext cx="11094415" cy="1371600"/>
          </a:xfrm>
          <a:prstGeom prst="roundRect">
            <a:avLst>
              <a:gd name="adj" fmla="val 6667"/>
            </a:avLst>
          </a:prstGeom>
          <a:solidFill>
            <a:srgbClr val="EAF0F8"/>
          </a:solidFill>
          <a:ln/>
        </p:spPr>
      </p:sp>
      <p:sp>
        <p:nvSpPr>
          <p:cNvPr id="40" name="Text 38"/>
          <p:cNvSpPr txBox="1"/>
          <p:nvPr/>
        </p:nvSpPr>
        <p:spPr>
          <a:xfrm>
            <a:off x="822960" y="4617720"/>
            <a:ext cx="10545775" cy="1097280"/>
          </a:xfrm>
          <a:prstGeom prst="rect">
            <a:avLst/>
          </a:prstGeom>
          <a:noFill/>
          <a:ln/>
        </p:spPr>
        <p:txBody>
          <a:bodyPr wrap="square"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Security &amp; quality gates run inline: </a:t>
            </a:r>
            <a:pPr indent="0" marL="0">
              <a:buNone/>
            </a:pPr>
            <a:r>
              <a:rPr lang="en-US" sz="1300" dirty="0">
                <a:solidFill>
                  <a:srgbClr val="51607A"/>
                </a:solidFill>
                <a:latin typeface="Calibri" pitchFamily="34" charset="0"/>
                <a:ea typeface="Calibri" pitchFamily="34" charset="-122"/>
                <a:cs typeface="Calibri" pitchFamily="34" charset="-120"/>
              </a:rPr>
              <a:t>Gitleaks blocks committed secrets, Checkov policy-checks Terraform and rendered Kubernetes manifests, and Trivy blocks fixable high- and critical-severity image findings. SonarCloud Quality Gate passed with no new security issues or hotspots.</a:t>
            </a:r>
            <a:endParaRPr lang="en-US" sz="1300" dirty="0"/>
          </a:p>
        </p:txBody>
      </p:sp>
      <p:sp>
        <p:nvSpPr>
          <p:cNvPr id="41" name="Text 39"/>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CONTINUOUS DEPLOYMENT</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CD Pipeline — Deployment to ECS Fargate</a:t>
            </a:r>
            <a:endParaRPr lang="en-US" sz="3200" dirty="0"/>
          </a:p>
        </p:txBody>
      </p:sp>
      <p:sp>
        <p:nvSpPr>
          <p:cNvPr id="4" name="Shape 2"/>
          <p:cNvSpPr/>
          <p:nvPr/>
        </p:nvSpPr>
        <p:spPr>
          <a:xfrm>
            <a:off x="548640" y="2286000"/>
            <a:ext cx="548640" cy="548640"/>
          </a:xfrm>
          <a:prstGeom prst="ellipse">
            <a:avLst/>
          </a:prstGeom>
          <a:solidFill>
            <a:srgbClr val="2BAE66"/>
          </a:solidFill>
          <a:ln/>
        </p:spPr>
      </p:sp>
      <p:sp>
        <p:nvSpPr>
          <p:cNvPr id="5" name="Text 3"/>
          <p:cNvSpPr txBox="1"/>
          <p:nvPr/>
        </p:nvSpPr>
        <p:spPr>
          <a:xfrm>
            <a:off x="54864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CI Success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on master</a:t>
            </a:r>
            <a:endParaRPr lang="en-US" sz="1050" dirty="0"/>
          </a:p>
        </p:txBody>
      </p:sp>
      <p:sp>
        <p:nvSpPr>
          <p:cNvPr id="7" name="Shape 5"/>
          <p:cNvSpPr/>
          <p:nvPr/>
        </p:nvSpPr>
        <p:spPr>
          <a:xfrm>
            <a:off x="1133856" y="2560320"/>
            <a:ext cx="884747" cy="0"/>
          </a:xfrm>
          <a:prstGeom prst="line">
            <a:avLst/>
          </a:prstGeom>
          <a:noFill/>
          <a:ln w="19050">
            <a:solidFill>
              <a:srgbClr val="51607A"/>
            </a:solidFill>
            <a:prstDash val="solid"/>
            <a:tailEnd type="triangle"/>
          </a:ln>
        </p:spPr>
      </p:sp>
      <p:sp>
        <p:nvSpPr>
          <p:cNvPr id="8" name="Shape 6"/>
          <p:cNvSpPr/>
          <p:nvPr/>
        </p:nvSpPr>
        <p:spPr>
          <a:xfrm>
            <a:off x="2055179" y="2286000"/>
            <a:ext cx="548640" cy="548640"/>
          </a:xfrm>
          <a:prstGeom prst="ellipse">
            <a:avLst/>
          </a:prstGeom>
          <a:solidFill>
            <a:srgbClr val="D99A28"/>
          </a:solidFill>
          <a:ln/>
        </p:spPr>
      </p:sp>
      <p:sp>
        <p:nvSpPr>
          <p:cNvPr id="9" name="Text 7"/>
          <p:cNvSpPr txBox="1"/>
          <p:nvPr/>
        </p:nvSpPr>
        <p:spPr>
          <a:xfrm>
            <a:off x="2055179"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620839"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ECS and ECR</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Safety Guard</a:t>
            </a:r>
            <a:endParaRPr lang="en-US" sz="1050" dirty="0"/>
          </a:p>
        </p:txBody>
      </p:sp>
      <p:sp>
        <p:nvSpPr>
          <p:cNvPr id="11" name="Shape 9"/>
          <p:cNvSpPr/>
          <p:nvPr/>
        </p:nvSpPr>
        <p:spPr>
          <a:xfrm>
            <a:off x="2640395" y="2560320"/>
            <a:ext cx="884747" cy="0"/>
          </a:xfrm>
          <a:prstGeom prst="line">
            <a:avLst/>
          </a:prstGeom>
          <a:noFill/>
          <a:ln w="19050">
            <a:solidFill>
              <a:srgbClr val="51607A"/>
            </a:solidFill>
            <a:prstDash val="solid"/>
            <a:tailEnd type="triangle"/>
          </a:ln>
        </p:spPr>
      </p:sp>
      <p:sp>
        <p:nvSpPr>
          <p:cNvPr id="12" name="Shape 10"/>
          <p:cNvSpPr/>
          <p:nvPr/>
        </p:nvSpPr>
        <p:spPr>
          <a:xfrm>
            <a:off x="3561719" y="2286000"/>
            <a:ext cx="548640" cy="548640"/>
          </a:xfrm>
          <a:prstGeom prst="ellipse">
            <a:avLst/>
          </a:prstGeom>
          <a:solidFill>
            <a:srgbClr val="1E3A5F"/>
          </a:solidFill>
          <a:ln/>
        </p:spPr>
      </p:sp>
      <p:sp>
        <p:nvSpPr>
          <p:cNvPr id="13" name="Text 11"/>
          <p:cNvSpPr txBox="1"/>
          <p:nvPr/>
        </p:nvSpPr>
        <p:spPr>
          <a:xfrm>
            <a:off x="3561719"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3127379"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GitHub OIDC</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Short-Lived Creds</a:t>
            </a:r>
            <a:endParaRPr lang="en-US" sz="1050" dirty="0"/>
          </a:p>
        </p:txBody>
      </p:sp>
      <p:sp>
        <p:nvSpPr>
          <p:cNvPr id="15" name="Shape 13"/>
          <p:cNvSpPr/>
          <p:nvPr/>
        </p:nvSpPr>
        <p:spPr>
          <a:xfrm>
            <a:off x="4146935" y="2560320"/>
            <a:ext cx="884747" cy="0"/>
          </a:xfrm>
          <a:prstGeom prst="line">
            <a:avLst/>
          </a:prstGeom>
          <a:noFill/>
          <a:ln w="19050">
            <a:solidFill>
              <a:srgbClr val="51607A"/>
            </a:solidFill>
            <a:prstDash val="solid"/>
            <a:tailEnd type="triangle"/>
          </a:ln>
        </p:spPr>
      </p:sp>
      <p:sp>
        <p:nvSpPr>
          <p:cNvPr id="16" name="Shape 14"/>
          <p:cNvSpPr/>
          <p:nvPr/>
        </p:nvSpPr>
        <p:spPr>
          <a:xfrm>
            <a:off x="5068258" y="2286000"/>
            <a:ext cx="548640" cy="548640"/>
          </a:xfrm>
          <a:prstGeom prst="ellipse">
            <a:avLst/>
          </a:prstGeom>
          <a:solidFill>
            <a:srgbClr val="2C6E9E"/>
          </a:solidFill>
          <a:ln/>
        </p:spPr>
      </p:sp>
      <p:sp>
        <p:nvSpPr>
          <p:cNvPr id="17" name="Text 15"/>
          <p:cNvSpPr txBox="1"/>
          <p:nvPr/>
        </p:nvSpPr>
        <p:spPr>
          <a:xfrm>
            <a:off x="5068258"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633918"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ECR</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Login</a:t>
            </a:r>
            <a:endParaRPr lang="en-US" sz="1050" dirty="0"/>
          </a:p>
        </p:txBody>
      </p:sp>
      <p:sp>
        <p:nvSpPr>
          <p:cNvPr id="19" name="Shape 17"/>
          <p:cNvSpPr/>
          <p:nvPr/>
        </p:nvSpPr>
        <p:spPr>
          <a:xfrm>
            <a:off x="5653474" y="2560320"/>
            <a:ext cx="884747" cy="0"/>
          </a:xfrm>
          <a:prstGeom prst="line">
            <a:avLst/>
          </a:prstGeom>
          <a:noFill/>
          <a:ln w="19050">
            <a:solidFill>
              <a:srgbClr val="51607A"/>
            </a:solidFill>
            <a:prstDash val="solid"/>
            <a:tailEnd type="triangle"/>
          </a:ln>
        </p:spPr>
      </p:sp>
      <p:sp>
        <p:nvSpPr>
          <p:cNvPr id="20" name="Shape 18"/>
          <p:cNvSpPr/>
          <p:nvPr/>
        </p:nvSpPr>
        <p:spPr>
          <a:xfrm>
            <a:off x="6574797" y="2286000"/>
            <a:ext cx="548640" cy="548640"/>
          </a:xfrm>
          <a:prstGeom prst="ellipse">
            <a:avLst/>
          </a:prstGeom>
          <a:solidFill>
            <a:srgbClr val="2C6E9E"/>
          </a:solidFill>
          <a:ln/>
        </p:spPr>
      </p:sp>
      <p:sp>
        <p:nvSpPr>
          <p:cNvPr id="21" name="Text 19"/>
          <p:cNvSpPr txBox="1"/>
          <p:nvPr/>
        </p:nvSpPr>
        <p:spPr>
          <a:xfrm>
            <a:off x="6574797"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6140457"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Tag Image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with Commit SHA</a:t>
            </a:r>
            <a:endParaRPr lang="en-US" sz="1050" dirty="0"/>
          </a:p>
        </p:txBody>
      </p:sp>
      <p:sp>
        <p:nvSpPr>
          <p:cNvPr id="23" name="Shape 21"/>
          <p:cNvSpPr/>
          <p:nvPr/>
        </p:nvSpPr>
        <p:spPr>
          <a:xfrm>
            <a:off x="7160013" y="2560320"/>
            <a:ext cx="884747" cy="0"/>
          </a:xfrm>
          <a:prstGeom prst="line">
            <a:avLst/>
          </a:prstGeom>
          <a:noFill/>
          <a:ln w="19050">
            <a:solidFill>
              <a:srgbClr val="51607A"/>
            </a:solidFill>
            <a:prstDash val="solid"/>
            <a:tailEnd type="triangle"/>
          </a:ln>
        </p:spPr>
      </p:sp>
      <p:sp>
        <p:nvSpPr>
          <p:cNvPr id="24" name="Shape 22"/>
          <p:cNvSpPr/>
          <p:nvPr/>
        </p:nvSpPr>
        <p:spPr>
          <a:xfrm>
            <a:off x="8081337" y="2286000"/>
            <a:ext cx="548640" cy="548640"/>
          </a:xfrm>
          <a:prstGeom prst="ellipse">
            <a:avLst/>
          </a:prstGeom>
          <a:solidFill>
            <a:srgbClr val="1CA7C9"/>
          </a:solidFill>
          <a:ln/>
        </p:spPr>
      </p:sp>
      <p:sp>
        <p:nvSpPr>
          <p:cNvPr id="25" name="Text 23"/>
          <p:cNvSpPr txBox="1"/>
          <p:nvPr/>
        </p:nvSpPr>
        <p:spPr>
          <a:xfrm>
            <a:off x="8081337"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7646997"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ECS Task-Definition</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Revision</a:t>
            </a:r>
            <a:endParaRPr lang="en-US" sz="1050" dirty="0"/>
          </a:p>
        </p:txBody>
      </p:sp>
      <p:sp>
        <p:nvSpPr>
          <p:cNvPr id="27" name="Shape 25"/>
          <p:cNvSpPr/>
          <p:nvPr/>
        </p:nvSpPr>
        <p:spPr>
          <a:xfrm>
            <a:off x="8666553" y="2560320"/>
            <a:ext cx="884747" cy="0"/>
          </a:xfrm>
          <a:prstGeom prst="line">
            <a:avLst/>
          </a:prstGeom>
          <a:noFill/>
          <a:ln w="19050">
            <a:solidFill>
              <a:srgbClr val="51607A"/>
            </a:solidFill>
            <a:prstDash val="solid"/>
            <a:tailEnd type="triangle"/>
          </a:ln>
        </p:spPr>
      </p:sp>
      <p:sp>
        <p:nvSpPr>
          <p:cNvPr id="28" name="Shape 26"/>
          <p:cNvSpPr/>
          <p:nvPr/>
        </p:nvSpPr>
        <p:spPr>
          <a:xfrm>
            <a:off x="9587876" y="2286000"/>
            <a:ext cx="548640" cy="548640"/>
          </a:xfrm>
          <a:prstGeom prst="ellipse">
            <a:avLst/>
          </a:prstGeom>
          <a:solidFill>
            <a:srgbClr val="1CA7C9"/>
          </a:solidFill>
          <a:ln/>
        </p:spPr>
      </p:sp>
      <p:sp>
        <p:nvSpPr>
          <p:cNvPr id="29" name="Text 27"/>
          <p:cNvSpPr txBox="1"/>
          <p:nvPr/>
        </p:nvSpPr>
        <p:spPr>
          <a:xfrm>
            <a:off x="9587876"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txBox="1"/>
          <p:nvPr/>
        </p:nvSpPr>
        <p:spPr>
          <a:xfrm>
            <a:off x="9153536"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Deployment</a:t>
            </a:r>
            <a:endParaRPr lang="en-US" sz="1050" dirty="0"/>
          </a:p>
        </p:txBody>
      </p:sp>
      <p:sp>
        <p:nvSpPr>
          <p:cNvPr id="31" name="Shape 29"/>
          <p:cNvSpPr/>
          <p:nvPr/>
        </p:nvSpPr>
        <p:spPr>
          <a:xfrm>
            <a:off x="10173092" y="2560320"/>
            <a:ext cx="884747" cy="0"/>
          </a:xfrm>
          <a:prstGeom prst="line">
            <a:avLst/>
          </a:prstGeom>
          <a:noFill/>
          <a:ln w="19050">
            <a:solidFill>
              <a:srgbClr val="51607A"/>
            </a:solidFill>
            <a:prstDash val="solid"/>
            <a:tailEnd type="triangle"/>
          </a:ln>
        </p:spPr>
      </p:sp>
      <p:sp>
        <p:nvSpPr>
          <p:cNvPr id="32" name="Shape 30"/>
          <p:cNvSpPr/>
          <p:nvPr/>
        </p:nvSpPr>
        <p:spPr>
          <a:xfrm>
            <a:off x="11094415" y="2286000"/>
            <a:ext cx="548640" cy="548640"/>
          </a:xfrm>
          <a:prstGeom prst="ellipse">
            <a:avLst/>
          </a:prstGeom>
          <a:solidFill>
            <a:srgbClr val="2BAE66"/>
          </a:solidFill>
          <a:ln/>
        </p:spPr>
      </p:sp>
      <p:sp>
        <p:nvSpPr>
          <p:cNvPr id="33" name="Text 31"/>
          <p:cNvSpPr txBox="1"/>
          <p:nvPr/>
        </p:nvSpPr>
        <p:spPr>
          <a:xfrm>
            <a:off x="11094415"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4" name="Text 32"/>
          <p:cNvSpPr txBox="1"/>
          <p:nvPr/>
        </p:nvSpPr>
        <p:spPr>
          <a:xfrm>
            <a:off x="10660075"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Wait for Service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Stability</a:t>
            </a:r>
            <a:endParaRPr lang="en-US" sz="1050" dirty="0"/>
          </a:p>
        </p:txBody>
      </p:sp>
      <p:sp>
        <p:nvSpPr>
          <p:cNvPr id="35" name="Shape 33"/>
          <p:cNvSpPr/>
          <p:nvPr/>
        </p:nvSpPr>
        <p:spPr>
          <a:xfrm>
            <a:off x="548640" y="4709160"/>
            <a:ext cx="11094415" cy="1234440"/>
          </a:xfrm>
          <a:prstGeom prst="roundRect">
            <a:avLst>
              <a:gd name="adj" fmla="val 7407"/>
            </a:avLst>
          </a:prstGeom>
          <a:solidFill>
            <a:srgbClr val="EAF0F8"/>
          </a:solidFill>
          <a:ln/>
        </p:spPr>
      </p:sp>
      <p:sp>
        <p:nvSpPr>
          <p:cNvPr id="36" name="Text 34"/>
          <p:cNvSpPr txBox="1"/>
          <p:nvPr/>
        </p:nvSpPr>
        <p:spPr>
          <a:xfrm>
            <a:off x="822960" y="4846320"/>
            <a:ext cx="10545775" cy="960120"/>
          </a:xfrm>
          <a:prstGeom prst="rect">
            <a:avLst/>
          </a:prstGeom>
          <a:noFill/>
          <a:ln/>
        </p:spPr>
        <p:txBody>
          <a:bodyPr wrap="square"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No long-lived AWS keys are stored in GitHub. </a:t>
            </a:r>
            <a:pPr indent="0" marL="0">
              <a:buNone/>
            </a:pPr>
            <a:r>
              <a:rPr lang="en-US" sz="1300" dirty="0">
                <a:solidFill>
                  <a:srgbClr val="51607A"/>
                </a:solidFill>
                <a:latin typeface="Calibri" pitchFamily="34" charset="0"/>
                <a:ea typeface="Calibri" pitchFamily="34" charset="-122"/>
                <a:cs typeface="Calibri" pitchFamily="34" charset="-120"/>
              </a:rPr>
              <a:t>Deployment only proceeds after CI succeeds on master and the ECS and ECR guard is set, authenticating via short-lived OIDC credentials before the new revision is deployed and monitored for stability.</a:t>
            </a:r>
            <a:endParaRPr lang="en-US" sz="1300" dirty="0"/>
          </a:p>
        </p:txBody>
      </p:sp>
      <p:sp>
        <p:nvSpPr>
          <p:cNvPr id="37" name="Text 35"/>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SECURITY</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Security Design</a:t>
            </a:r>
            <a:endParaRPr lang="en-US" sz="3200" dirty="0"/>
          </a:p>
        </p:txBody>
      </p:sp>
      <p:sp>
        <p:nvSpPr>
          <p:cNvPr id="4" name="Shape 2"/>
          <p:cNvSpPr/>
          <p:nvPr/>
        </p:nvSpPr>
        <p:spPr>
          <a:xfrm>
            <a:off x="548640" y="1691640"/>
            <a:ext cx="2602154" cy="1417320"/>
          </a:xfrm>
          <a:prstGeom prst="roundRect">
            <a:avLst>
              <a:gd name="adj" fmla="val 6452"/>
            </a:avLst>
          </a:prstGeom>
          <a:solidFill>
            <a:srgbClr val="EAF0F8"/>
          </a:solidFill>
          <a:ln/>
        </p:spPr>
      </p:sp>
      <p:sp>
        <p:nvSpPr>
          <p:cNvPr id="5" name="Shape 3"/>
          <p:cNvSpPr/>
          <p:nvPr/>
        </p:nvSpPr>
        <p:spPr>
          <a:xfrm>
            <a:off x="749808" y="1892808"/>
            <a:ext cx="365760" cy="365760"/>
          </a:xfrm>
          <a:prstGeom prst="ellipse">
            <a:avLst/>
          </a:prstGeom>
          <a:solidFill>
            <a:srgbClr val="1E3A5F"/>
          </a:solidFill>
          <a:ln/>
        </p:spPr>
      </p:sp>
      <p:sp>
        <p:nvSpPr>
          <p:cNvPr id="6" name="Text 4"/>
          <p:cNvSpPr txBox="1"/>
          <p:nvPr/>
        </p:nvSpPr>
        <p:spPr>
          <a:xfrm>
            <a:off x="749808"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13232"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 Long-Lived Keys</a:t>
            </a:r>
            <a:endParaRPr lang="en-US" sz="1200" dirty="0"/>
          </a:p>
        </p:txBody>
      </p:sp>
      <p:sp>
        <p:nvSpPr>
          <p:cNvPr id="8" name="Text 6"/>
          <p:cNvSpPr txBox="1"/>
          <p:nvPr/>
        </p:nvSpPr>
        <p:spPr>
          <a:xfrm>
            <a:off x="713232"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GitHub OIDC issues short-lived AWS credentials</a:t>
            </a:r>
            <a:endParaRPr lang="en-US" sz="950" dirty="0"/>
          </a:p>
        </p:txBody>
      </p:sp>
      <p:sp>
        <p:nvSpPr>
          <p:cNvPr id="9" name="Shape 7"/>
          <p:cNvSpPr/>
          <p:nvPr/>
        </p:nvSpPr>
        <p:spPr>
          <a:xfrm>
            <a:off x="3379394" y="1691640"/>
            <a:ext cx="2602154" cy="1417320"/>
          </a:xfrm>
          <a:prstGeom prst="roundRect">
            <a:avLst>
              <a:gd name="adj" fmla="val 6452"/>
            </a:avLst>
          </a:prstGeom>
          <a:solidFill>
            <a:srgbClr val="EAF0F8"/>
          </a:solidFill>
          <a:ln/>
        </p:spPr>
      </p:sp>
      <p:sp>
        <p:nvSpPr>
          <p:cNvPr id="10" name="Shape 8"/>
          <p:cNvSpPr/>
          <p:nvPr/>
        </p:nvSpPr>
        <p:spPr>
          <a:xfrm>
            <a:off x="3580562" y="1892808"/>
            <a:ext cx="365760" cy="365760"/>
          </a:xfrm>
          <a:prstGeom prst="ellipse">
            <a:avLst/>
          </a:prstGeom>
          <a:solidFill>
            <a:srgbClr val="1E3A5F"/>
          </a:solidFill>
          <a:ln/>
        </p:spPr>
      </p:sp>
      <p:sp>
        <p:nvSpPr>
          <p:cNvPr id="11" name="Text 9"/>
          <p:cNvSpPr txBox="1"/>
          <p:nvPr/>
        </p:nvSpPr>
        <p:spPr>
          <a:xfrm>
            <a:off x="3580562"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543986"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IAM Least Privilege</a:t>
            </a:r>
            <a:endParaRPr lang="en-US" sz="1200" dirty="0"/>
          </a:p>
        </p:txBody>
      </p:sp>
      <p:sp>
        <p:nvSpPr>
          <p:cNvPr id="13" name="Text 11"/>
          <p:cNvSpPr txBox="1"/>
          <p:nvPr/>
        </p:nvSpPr>
        <p:spPr>
          <a:xfrm>
            <a:off x="3543986"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Scoped roles and policies per component</a:t>
            </a:r>
            <a:endParaRPr lang="en-US" sz="950" dirty="0"/>
          </a:p>
        </p:txBody>
      </p:sp>
      <p:sp>
        <p:nvSpPr>
          <p:cNvPr id="14" name="Shape 12"/>
          <p:cNvSpPr/>
          <p:nvPr/>
        </p:nvSpPr>
        <p:spPr>
          <a:xfrm>
            <a:off x="6210148" y="1691640"/>
            <a:ext cx="2602154" cy="1417320"/>
          </a:xfrm>
          <a:prstGeom prst="roundRect">
            <a:avLst>
              <a:gd name="adj" fmla="val 6452"/>
            </a:avLst>
          </a:prstGeom>
          <a:solidFill>
            <a:srgbClr val="EAF0F8"/>
          </a:solidFill>
          <a:ln/>
        </p:spPr>
      </p:sp>
      <p:sp>
        <p:nvSpPr>
          <p:cNvPr id="15" name="Shape 13"/>
          <p:cNvSpPr/>
          <p:nvPr/>
        </p:nvSpPr>
        <p:spPr>
          <a:xfrm>
            <a:off x="6411316" y="1892808"/>
            <a:ext cx="365760" cy="365760"/>
          </a:xfrm>
          <a:prstGeom prst="ellipse">
            <a:avLst/>
          </a:prstGeom>
          <a:solidFill>
            <a:srgbClr val="1E3A5F"/>
          </a:solidFill>
          <a:ln/>
        </p:spPr>
      </p:sp>
      <p:sp>
        <p:nvSpPr>
          <p:cNvPr id="16" name="Text 14"/>
          <p:cNvSpPr txBox="1"/>
          <p:nvPr/>
        </p:nvSpPr>
        <p:spPr>
          <a:xfrm>
            <a:off x="6411316"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374740"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Private RDS</a:t>
            </a:r>
            <a:endParaRPr lang="en-US" sz="1200" dirty="0"/>
          </a:p>
        </p:txBody>
      </p:sp>
      <p:sp>
        <p:nvSpPr>
          <p:cNvPr id="18" name="Text 16"/>
          <p:cNvSpPr txBox="1"/>
          <p:nvPr/>
        </p:nvSpPr>
        <p:spPr>
          <a:xfrm>
            <a:off x="6374740"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Database has no public endpoint</a:t>
            </a:r>
            <a:endParaRPr lang="en-US" sz="950" dirty="0"/>
          </a:p>
        </p:txBody>
      </p:sp>
      <p:sp>
        <p:nvSpPr>
          <p:cNvPr id="19" name="Shape 17"/>
          <p:cNvSpPr/>
          <p:nvPr/>
        </p:nvSpPr>
        <p:spPr>
          <a:xfrm>
            <a:off x="9040901" y="1691640"/>
            <a:ext cx="2602154" cy="1417320"/>
          </a:xfrm>
          <a:prstGeom prst="roundRect">
            <a:avLst>
              <a:gd name="adj" fmla="val 6452"/>
            </a:avLst>
          </a:prstGeom>
          <a:solidFill>
            <a:srgbClr val="EAF0F8"/>
          </a:solidFill>
          <a:ln/>
        </p:spPr>
      </p:sp>
      <p:sp>
        <p:nvSpPr>
          <p:cNvPr id="20" name="Shape 18"/>
          <p:cNvSpPr/>
          <p:nvPr/>
        </p:nvSpPr>
        <p:spPr>
          <a:xfrm>
            <a:off x="9242069" y="1892808"/>
            <a:ext cx="365760" cy="365760"/>
          </a:xfrm>
          <a:prstGeom prst="ellipse">
            <a:avLst/>
          </a:prstGeom>
          <a:solidFill>
            <a:srgbClr val="1E3A5F"/>
          </a:solidFill>
          <a:ln/>
        </p:spPr>
      </p:sp>
      <p:sp>
        <p:nvSpPr>
          <p:cNvPr id="21" name="Text 19"/>
          <p:cNvSpPr txBox="1"/>
          <p:nvPr/>
        </p:nvSpPr>
        <p:spPr>
          <a:xfrm>
            <a:off x="9242069"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205493"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Security-Group Isolation</a:t>
            </a:r>
            <a:endParaRPr lang="en-US" sz="1200" dirty="0"/>
          </a:p>
        </p:txBody>
      </p:sp>
      <p:sp>
        <p:nvSpPr>
          <p:cNvPr id="23" name="Text 21"/>
          <p:cNvSpPr txBox="1"/>
          <p:nvPr/>
        </p:nvSpPr>
        <p:spPr>
          <a:xfrm>
            <a:off x="9205493"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Network access restricted by component</a:t>
            </a:r>
            <a:endParaRPr lang="en-US" sz="950" dirty="0"/>
          </a:p>
        </p:txBody>
      </p:sp>
      <p:sp>
        <p:nvSpPr>
          <p:cNvPr id="24" name="Shape 22"/>
          <p:cNvSpPr/>
          <p:nvPr/>
        </p:nvSpPr>
        <p:spPr>
          <a:xfrm>
            <a:off x="548640" y="3337560"/>
            <a:ext cx="2602154" cy="1417320"/>
          </a:xfrm>
          <a:prstGeom prst="roundRect">
            <a:avLst>
              <a:gd name="adj" fmla="val 6452"/>
            </a:avLst>
          </a:prstGeom>
          <a:solidFill>
            <a:srgbClr val="EAF0F8"/>
          </a:solidFill>
          <a:ln/>
        </p:spPr>
      </p:sp>
      <p:sp>
        <p:nvSpPr>
          <p:cNvPr id="25" name="Shape 23"/>
          <p:cNvSpPr/>
          <p:nvPr/>
        </p:nvSpPr>
        <p:spPr>
          <a:xfrm>
            <a:off x="749808" y="3538728"/>
            <a:ext cx="365760" cy="365760"/>
          </a:xfrm>
          <a:prstGeom prst="ellipse">
            <a:avLst/>
          </a:prstGeom>
          <a:solidFill>
            <a:srgbClr val="1E3A5F"/>
          </a:solidFill>
          <a:ln/>
        </p:spPr>
      </p:sp>
      <p:sp>
        <p:nvSpPr>
          <p:cNvPr id="26" name="Text 24"/>
          <p:cNvSpPr txBox="1"/>
          <p:nvPr/>
        </p:nvSpPr>
        <p:spPr>
          <a:xfrm>
            <a:off x="749808"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13232"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Secrets Manager</a:t>
            </a:r>
            <a:endParaRPr lang="en-US" sz="1200" dirty="0"/>
          </a:p>
        </p:txBody>
      </p:sp>
      <p:sp>
        <p:nvSpPr>
          <p:cNvPr id="28" name="Text 26"/>
          <p:cNvSpPr txBox="1"/>
          <p:nvPr/>
        </p:nvSpPr>
        <p:spPr>
          <a:xfrm>
            <a:off x="713232"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Credentials never stored in code or CI</a:t>
            </a:r>
            <a:endParaRPr lang="en-US" sz="950" dirty="0"/>
          </a:p>
        </p:txBody>
      </p:sp>
      <p:sp>
        <p:nvSpPr>
          <p:cNvPr id="29" name="Shape 27"/>
          <p:cNvSpPr/>
          <p:nvPr/>
        </p:nvSpPr>
        <p:spPr>
          <a:xfrm>
            <a:off x="3379394" y="3337560"/>
            <a:ext cx="2602154" cy="1417320"/>
          </a:xfrm>
          <a:prstGeom prst="roundRect">
            <a:avLst>
              <a:gd name="adj" fmla="val 6452"/>
            </a:avLst>
          </a:prstGeom>
          <a:solidFill>
            <a:srgbClr val="EAF0F8"/>
          </a:solidFill>
          <a:ln/>
        </p:spPr>
      </p:sp>
      <p:sp>
        <p:nvSpPr>
          <p:cNvPr id="30" name="Shape 28"/>
          <p:cNvSpPr/>
          <p:nvPr/>
        </p:nvSpPr>
        <p:spPr>
          <a:xfrm>
            <a:off x="3580562" y="3538728"/>
            <a:ext cx="365760" cy="365760"/>
          </a:xfrm>
          <a:prstGeom prst="ellipse">
            <a:avLst/>
          </a:prstGeom>
          <a:solidFill>
            <a:srgbClr val="1E3A5F"/>
          </a:solidFill>
          <a:ln/>
        </p:spPr>
      </p:sp>
      <p:sp>
        <p:nvSpPr>
          <p:cNvPr id="31" name="Text 29"/>
          <p:cNvSpPr txBox="1"/>
          <p:nvPr/>
        </p:nvSpPr>
        <p:spPr>
          <a:xfrm>
            <a:off x="3580562"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3543986"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Encryption</a:t>
            </a:r>
            <a:endParaRPr lang="en-US" sz="1200" dirty="0"/>
          </a:p>
        </p:txBody>
      </p:sp>
      <p:sp>
        <p:nvSpPr>
          <p:cNvPr id="33" name="Text 31"/>
          <p:cNvSpPr txBox="1"/>
          <p:nvPr/>
        </p:nvSpPr>
        <p:spPr>
          <a:xfrm>
            <a:off x="3543986"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Data encrypted at rest and in transit</a:t>
            </a:r>
            <a:endParaRPr lang="en-US" sz="950" dirty="0"/>
          </a:p>
        </p:txBody>
      </p:sp>
      <p:sp>
        <p:nvSpPr>
          <p:cNvPr id="34" name="Shape 32"/>
          <p:cNvSpPr/>
          <p:nvPr/>
        </p:nvSpPr>
        <p:spPr>
          <a:xfrm>
            <a:off x="6210148" y="3337560"/>
            <a:ext cx="2602154" cy="1417320"/>
          </a:xfrm>
          <a:prstGeom prst="roundRect">
            <a:avLst>
              <a:gd name="adj" fmla="val 6452"/>
            </a:avLst>
          </a:prstGeom>
          <a:solidFill>
            <a:srgbClr val="EAF0F8"/>
          </a:solidFill>
          <a:ln/>
        </p:spPr>
      </p:sp>
      <p:sp>
        <p:nvSpPr>
          <p:cNvPr id="35" name="Shape 33"/>
          <p:cNvSpPr/>
          <p:nvPr/>
        </p:nvSpPr>
        <p:spPr>
          <a:xfrm>
            <a:off x="6411316" y="3538728"/>
            <a:ext cx="365760" cy="365760"/>
          </a:xfrm>
          <a:prstGeom prst="ellipse">
            <a:avLst/>
          </a:prstGeom>
          <a:solidFill>
            <a:srgbClr val="1E3A5F"/>
          </a:solidFill>
          <a:ln/>
        </p:spPr>
      </p:sp>
      <p:sp>
        <p:nvSpPr>
          <p:cNvPr id="36" name="Text 34"/>
          <p:cNvSpPr txBox="1"/>
          <p:nvPr/>
        </p:nvSpPr>
        <p:spPr>
          <a:xfrm>
            <a:off x="6411316"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6374740"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Gitleaks / Checkov / Trivy</a:t>
            </a:r>
            <a:endParaRPr lang="en-US" sz="1200" dirty="0"/>
          </a:p>
        </p:txBody>
      </p:sp>
      <p:sp>
        <p:nvSpPr>
          <p:cNvPr id="38" name="Text 36"/>
          <p:cNvSpPr txBox="1"/>
          <p:nvPr/>
        </p:nvSpPr>
        <p:spPr>
          <a:xfrm>
            <a:off x="6374740"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Secret, IaC, and image scanning in CI</a:t>
            </a:r>
            <a:endParaRPr lang="en-US" sz="950" dirty="0"/>
          </a:p>
        </p:txBody>
      </p:sp>
      <p:sp>
        <p:nvSpPr>
          <p:cNvPr id="39" name="Shape 37"/>
          <p:cNvSpPr/>
          <p:nvPr/>
        </p:nvSpPr>
        <p:spPr>
          <a:xfrm>
            <a:off x="9040901" y="3337560"/>
            <a:ext cx="2602154" cy="1417320"/>
          </a:xfrm>
          <a:prstGeom prst="roundRect">
            <a:avLst>
              <a:gd name="adj" fmla="val 6452"/>
            </a:avLst>
          </a:prstGeom>
          <a:solidFill>
            <a:srgbClr val="EAF0F8"/>
          </a:solidFill>
          <a:ln/>
        </p:spPr>
      </p:sp>
      <p:sp>
        <p:nvSpPr>
          <p:cNvPr id="40" name="Shape 38"/>
          <p:cNvSpPr/>
          <p:nvPr/>
        </p:nvSpPr>
        <p:spPr>
          <a:xfrm>
            <a:off x="9242069" y="3538728"/>
            <a:ext cx="365760" cy="365760"/>
          </a:xfrm>
          <a:prstGeom prst="ellipse">
            <a:avLst/>
          </a:prstGeom>
          <a:solidFill>
            <a:srgbClr val="1E3A5F"/>
          </a:solidFill>
          <a:ln/>
        </p:spPr>
      </p:sp>
      <p:sp>
        <p:nvSpPr>
          <p:cNvPr id="41" name="Text 39"/>
          <p:cNvSpPr txBox="1"/>
          <p:nvPr/>
        </p:nvSpPr>
        <p:spPr>
          <a:xfrm>
            <a:off x="9242069"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9205493"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Documented Scan Exceptions</a:t>
            </a:r>
            <a:endParaRPr lang="en-US" sz="1200" dirty="0"/>
          </a:p>
        </p:txBody>
      </p:sp>
      <p:sp>
        <p:nvSpPr>
          <p:cNvPr id="43" name="Text 41"/>
          <p:cNvSpPr txBox="1"/>
          <p:nvPr/>
        </p:nvSpPr>
        <p:spPr>
          <a:xfrm>
            <a:off x="9205493"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Any accepted findings are recorded, not hidden</a:t>
            </a:r>
            <a:endParaRPr lang="en-US" sz="950" dirty="0"/>
          </a:p>
        </p:txBody>
      </p:sp>
      <p:sp>
        <p:nvSpPr>
          <p:cNvPr id="44" name="Shape 42"/>
          <p:cNvSpPr/>
          <p:nvPr/>
        </p:nvSpPr>
        <p:spPr>
          <a:xfrm>
            <a:off x="548640" y="5029200"/>
            <a:ext cx="11094415" cy="777240"/>
          </a:xfrm>
          <a:prstGeom prst="roundRect">
            <a:avLst>
              <a:gd name="adj" fmla="val 11765"/>
            </a:avLst>
          </a:prstGeom>
          <a:solidFill>
            <a:srgbClr val="D99A28"/>
          </a:solidFill>
          <a:ln/>
        </p:spPr>
      </p:sp>
      <p:sp>
        <p:nvSpPr>
          <p:cNvPr id="45" name="Text 43"/>
          <p:cNvSpPr txBox="1"/>
          <p:nvPr/>
        </p:nvSpPr>
        <p:spPr>
          <a:xfrm>
            <a:off x="822960" y="5029200"/>
            <a:ext cx="10545775" cy="777240"/>
          </a:xfrm>
          <a:prstGeom prst="rect">
            <a:avLst/>
          </a:prstGeom>
          <a:noFill/>
          <a:ln/>
        </p:spPr>
        <p:txBody>
          <a:bodyPr wrap="square"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Future Work: Production HTTPS — ACM public certificates require a controlled domain, which has not yet been provisioned.</a:t>
            </a:r>
            <a:endParaRPr lang="en-US" sz="1300" dirty="0"/>
          </a:p>
        </p:txBody>
      </p:sp>
      <p:sp>
        <p:nvSpPr>
          <p:cNvPr id="46" name="Text 44"/>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Autoscaling &amp; Performance Evidence</a:t>
            </a:r>
            <a:endParaRPr lang="en-US" sz="3200" dirty="0"/>
          </a:p>
        </p:txBody>
      </p:sp>
      <p:sp>
        <p:nvSpPr>
          <p:cNvPr id="4" name="Shape 2"/>
          <p:cNvSpPr/>
          <p:nvPr/>
        </p:nvSpPr>
        <p:spPr>
          <a:xfrm>
            <a:off x="548640" y="1737360"/>
            <a:ext cx="4206240" cy="4297680"/>
          </a:xfrm>
          <a:prstGeom prst="roundRect">
            <a:avLst>
              <a:gd name="adj" fmla="val 2174"/>
            </a:avLst>
          </a:prstGeom>
          <a:solidFill>
            <a:srgbClr val="EAF0F8"/>
          </a:solidFill>
          <a:ln/>
        </p:spPr>
      </p:sp>
      <p:sp>
        <p:nvSpPr>
          <p:cNvPr id="5" name="Text 3"/>
          <p:cNvSpPr txBox="1"/>
          <p:nvPr/>
        </p:nvSpPr>
        <p:spPr>
          <a:xfrm>
            <a:off x="822960" y="1965960"/>
            <a:ext cx="3657600" cy="274320"/>
          </a:xfrm>
          <a:prstGeom prst="rect">
            <a:avLst/>
          </a:prstGeom>
          <a:noFill/>
          <a:ln/>
        </p:spPr>
        <p:txBody>
          <a:bodyPr wrap="square" rtlCol="0" anchor="ctr"/>
          <a:lstStyle/>
          <a:p>
            <a:pPr indent="0" marL="0">
              <a:buNone/>
            </a:pPr>
            <a:r>
              <a:rPr lang="en-US" sz="1200" b="1" spc="100" kern="0" dirty="0">
                <a:solidFill>
                  <a:srgbClr val="2C6E9E"/>
                </a:solidFill>
                <a:latin typeface="Calibri" pitchFamily="34" charset="0"/>
                <a:ea typeface="Calibri" pitchFamily="34" charset="-122"/>
                <a:cs typeface="Calibri" pitchFamily="34" charset="-120"/>
              </a:rPr>
              <a:t>ECS AUTOSCALING POLICY</a:t>
            </a:r>
            <a:endParaRPr lang="en-US" sz="1200" dirty="0"/>
          </a:p>
        </p:txBody>
      </p:sp>
      <p:sp>
        <p:nvSpPr>
          <p:cNvPr id="6" name="Text 4"/>
          <p:cNvSpPr txBox="1"/>
          <p:nvPr/>
        </p:nvSpPr>
        <p:spPr>
          <a:xfrm>
            <a:off x="822960" y="2331720"/>
            <a:ext cx="3657600" cy="737006"/>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60%</a:t>
            </a:r>
            <a:endParaRPr lang="en-US" sz="3400" dirty="0"/>
          </a:p>
        </p:txBody>
      </p:sp>
      <p:sp>
        <p:nvSpPr>
          <p:cNvPr id="7" name="Text 5"/>
          <p:cNvSpPr txBox="1"/>
          <p:nvPr/>
        </p:nvSpPr>
        <p:spPr>
          <a:xfrm>
            <a:off x="822960" y="3068726"/>
            <a:ext cx="3657600" cy="451714"/>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CPU Target Utilization</a:t>
            </a:r>
            <a:endParaRPr lang="en-US" sz="1200" dirty="0"/>
          </a:p>
        </p:txBody>
      </p:sp>
      <p:sp>
        <p:nvSpPr>
          <p:cNvPr id="8" name="Text 6"/>
          <p:cNvSpPr txBox="1"/>
          <p:nvPr/>
        </p:nvSpPr>
        <p:spPr>
          <a:xfrm>
            <a:off x="822960" y="3566160"/>
            <a:ext cx="1691640" cy="623621"/>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1</a:t>
            </a:r>
            <a:endParaRPr lang="en-US" sz="3400" dirty="0"/>
          </a:p>
        </p:txBody>
      </p:sp>
      <p:sp>
        <p:nvSpPr>
          <p:cNvPr id="9" name="Text 7"/>
          <p:cNvSpPr txBox="1"/>
          <p:nvPr/>
        </p:nvSpPr>
        <p:spPr>
          <a:xfrm>
            <a:off x="822960" y="4189781"/>
            <a:ext cx="1691640" cy="382219"/>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Minimum Tasks</a:t>
            </a:r>
            <a:endParaRPr lang="en-US" sz="1200" dirty="0"/>
          </a:p>
        </p:txBody>
      </p:sp>
      <p:sp>
        <p:nvSpPr>
          <p:cNvPr id="10" name="Text 8"/>
          <p:cNvSpPr txBox="1"/>
          <p:nvPr/>
        </p:nvSpPr>
        <p:spPr>
          <a:xfrm>
            <a:off x="2788920" y="3566160"/>
            <a:ext cx="1691640" cy="623621"/>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2788920" y="4189781"/>
            <a:ext cx="1691640" cy="382219"/>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Maximum Tasks</a:t>
            </a:r>
            <a:endParaRPr lang="en-US" sz="1200" dirty="0"/>
          </a:p>
        </p:txBody>
      </p:sp>
      <p:sp>
        <p:nvSpPr>
          <p:cNvPr id="12" name="Shape 10"/>
          <p:cNvSpPr/>
          <p:nvPr/>
        </p:nvSpPr>
        <p:spPr>
          <a:xfrm>
            <a:off x="822960" y="4709160"/>
            <a:ext cx="3657600" cy="0"/>
          </a:xfrm>
          <a:prstGeom prst="line">
            <a:avLst/>
          </a:prstGeom>
          <a:noFill/>
          <a:ln w="9525">
            <a:solidFill>
              <a:srgbClr val="51607A"/>
            </a:solidFill>
            <a:prstDash val="dash"/>
          </a:ln>
        </p:spPr>
      </p:sp>
      <p:sp>
        <p:nvSpPr>
          <p:cNvPr id="13" name="Text 11"/>
          <p:cNvSpPr txBox="1"/>
          <p:nvPr/>
        </p:nvSpPr>
        <p:spPr>
          <a:xfrm>
            <a:off x="822960" y="4846320"/>
            <a:ext cx="3657600" cy="1005840"/>
          </a:xfrm>
          <a:prstGeom prst="rect">
            <a:avLst/>
          </a:prstGeom>
          <a:noFill/>
          <a:ln/>
        </p:spPr>
        <p:txBody>
          <a:bodyPr wrap="square" rtlCol="0" anchor="ctr"/>
          <a:lstStyle/>
          <a:p>
            <a:pPr indent="0" marL="0">
              <a:buNone/>
            </a:pPr>
            <a:r>
              <a:rPr lang="en-US" sz="1250" dirty="0">
                <a:solidFill>
                  <a:srgbClr val="51607A"/>
                </a:solidFill>
                <a:latin typeface="Calibri" pitchFamily="34" charset="0"/>
                <a:ea typeface="Calibri" pitchFamily="34" charset="-122"/>
                <a:cs typeface="Calibri" pitchFamily="34" charset="-120"/>
              </a:rPr>
              <a:t>Scaling verified: 1 task → 2 tasks → back to 1 task under generated load, confirming both scale-out and scale-in behavior.</a:t>
            </a:r>
            <a:endParaRPr lang="en-US" sz="1250" dirty="0"/>
          </a:p>
        </p:txBody>
      </p:sp>
      <p:sp>
        <p:nvSpPr>
          <p:cNvPr id="14" name="Text 12"/>
          <p:cNvSpPr txBox="1"/>
          <p:nvPr/>
        </p:nvSpPr>
        <p:spPr>
          <a:xfrm>
            <a:off x="5120640" y="1737360"/>
            <a:ext cx="6522415" cy="274320"/>
          </a:xfrm>
          <a:prstGeom prst="rect">
            <a:avLst/>
          </a:prstGeom>
          <a:noFill/>
          <a:ln/>
        </p:spPr>
        <p:txBody>
          <a:bodyPr wrap="square" rtlCol="0" anchor="ctr"/>
          <a:lstStyle/>
          <a:p>
            <a:pPr indent="0" marL="0">
              <a:buNone/>
            </a:pPr>
            <a:r>
              <a:rPr lang="en-US" sz="1200" b="1" spc="100" kern="0" dirty="0">
                <a:solidFill>
                  <a:srgbClr val="2C6E9E"/>
                </a:solidFill>
                <a:latin typeface="Calibri" pitchFamily="34" charset="0"/>
                <a:ea typeface="Calibri" pitchFamily="34" charset="-122"/>
                <a:cs typeface="Calibri" pitchFamily="34" charset="-120"/>
              </a:rPr>
              <a:t>TASK COUNT DURING LOAD TEST</a:t>
            </a:r>
            <a:endParaRPr lang="en-US" sz="1200" dirty="0"/>
          </a:p>
        </p:txBody>
      </p:sp>
      <p:graphicFrame>
        <p:nvGraphicFramePr>
          <p:cNvPr id="15" name="Chart 0" descr=""/>
          <p:cNvGraphicFramePr/>
          <p:nvPr/>
        </p:nvGraphicFramePr>
        <p:xfrm>
          <a:off x="5120640" y="2057400"/>
          <a:ext cx="6522415" cy="23317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5120640" y="4617720"/>
            <a:ext cx="6522415" cy="1280160"/>
          </a:xfrm>
          <a:prstGeom prst="roundRect">
            <a:avLst>
              <a:gd name="adj" fmla="val 7143"/>
            </a:avLst>
          </a:prstGeom>
          <a:solidFill>
            <a:srgbClr val="EAF0F8"/>
          </a:solidFill>
          <a:ln/>
        </p:spPr>
      </p:sp>
      <p:sp>
        <p:nvSpPr>
          <p:cNvPr id="17" name="Text 14"/>
          <p:cNvSpPr txBox="1"/>
          <p:nvPr/>
        </p:nvSpPr>
        <p:spPr>
          <a:xfrm>
            <a:off x="5212080"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7,507</a:t>
            </a:r>
            <a:endParaRPr lang="en-US" sz="3400" dirty="0"/>
          </a:p>
        </p:txBody>
      </p:sp>
      <p:sp>
        <p:nvSpPr>
          <p:cNvPr id="18" name="Text 15"/>
          <p:cNvSpPr txBox="1"/>
          <p:nvPr/>
        </p:nvSpPr>
        <p:spPr>
          <a:xfrm>
            <a:off x="5212080"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Load Test Requests</a:t>
            </a:r>
            <a:endParaRPr lang="en-US" sz="1200" dirty="0"/>
          </a:p>
        </p:txBody>
      </p:sp>
      <p:sp>
        <p:nvSpPr>
          <p:cNvPr id="19" name="Text 16"/>
          <p:cNvSpPr txBox="1"/>
          <p:nvPr/>
        </p:nvSpPr>
        <p:spPr>
          <a:xfrm>
            <a:off x="7447178"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0</a:t>
            </a:r>
            <a:endParaRPr lang="en-US" sz="3400" dirty="0"/>
          </a:p>
        </p:txBody>
      </p:sp>
      <p:sp>
        <p:nvSpPr>
          <p:cNvPr id="20" name="Text 17"/>
          <p:cNvSpPr txBox="1"/>
          <p:nvPr/>
        </p:nvSpPr>
        <p:spPr>
          <a:xfrm>
            <a:off x="7447178"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Failed Requests</a:t>
            </a:r>
            <a:endParaRPr lang="en-US" sz="1200" dirty="0"/>
          </a:p>
        </p:txBody>
      </p:sp>
      <p:sp>
        <p:nvSpPr>
          <p:cNvPr id="21" name="Text 18"/>
          <p:cNvSpPr txBox="1"/>
          <p:nvPr/>
        </p:nvSpPr>
        <p:spPr>
          <a:xfrm>
            <a:off x="9682277"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24.76</a:t>
            </a:r>
            <a:endParaRPr lang="en-US" sz="3400" dirty="0"/>
          </a:p>
        </p:txBody>
      </p:sp>
      <p:sp>
        <p:nvSpPr>
          <p:cNvPr id="22" name="Text 19"/>
          <p:cNvSpPr txBox="1"/>
          <p:nvPr/>
        </p:nvSpPr>
        <p:spPr>
          <a:xfrm>
            <a:off x="9682277"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Requests / sec</a:t>
            </a:r>
            <a:endParaRPr lang="en-US" sz="1200" dirty="0"/>
          </a:p>
        </p:txBody>
      </p:sp>
      <p:sp>
        <p:nvSpPr>
          <p:cNvPr id="23" name="Text 20"/>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RESILIENCE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Backup, Recovery &amp; Log Archival</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4480560"/>
        </p:xfrm>
        <a:graphic>
          <a:graphicData uri="http://schemas.openxmlformats.org/drawingml/2006/table">
            <a:tbl>
              <a:tblPr/>
              <a:tblGrid>
                <a:gridCol w="3108960"/>
                <a:gridCol w="7985455"/>
              </a:tblGrid>
              <a:tr h="640080">
                <a:tc>
                  <a:txBody>
                    <a:bodyPr/>
                    <a:lstStyle/>
                    <a:p>
                      <a:pPr indent="0" marL="0">
                        <a:buNone/>
                      </a:pPr>
                      <a:r>
                        <a:rPr lang="en-US" sz="1200" b="1" dirty="0">
                          <a:solidFill>
                            <a:srgbClr val="FFFFFF"/>
                          </a:solidFill>
                        </a:rPr>
                        <a:t>Area</a:t>
                      </a:r>
                      <a:endParaRPr lang="en-US" sz="120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c>
                  <a:txBody>
                    <a:bodyPr/>
                    <a:lstStyle/>
                    <a:p>
                      <a:pPr indent="0" marL="0">
                        <a:buNone/>
                      </a:pPr>
                      <a:r>
                        <a:rPr lang="en-US" sz="1200" b="1" dirty="0">
                          <a:solidFill>
                            <a:srgbClr val="FFFFFF"/>
                          </a:solidFill>
                        </a:rPr>
                        <a:t>Evidence</a:t>
                      </a:r>
                      <a:endParaRPr lang="en-US" sz="120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r>
              <a:tr h="640080">
                <a:tc>
                  <a:txBody>
                    <a:bodyPr/>
                    <a:lstStyle/>
                    <a:p>
                      <a:pPr indent="0" marL="0">
                        <a:buNone/>
                      </a:pPr>
                      <a:r>
                        <a:rPr lang="en-US" sz="1150" b="1" dirty="0">
                          <a:solidFill>
                            <a:srgbClr val="1B2A4A"/>
                          </a:solidFill>
                        </a:rPr>
                        <a:t>Persistent S3 Archive</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Independent of environment lifecycle — public access blocked, AES256 encryption, versioning enabled</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Log Retention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Application and infrastructure logs retained for 30 days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SQL Backup Retention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Portable SQL backups retained for 90 days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Backup Mechanism</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One-off ECS Fargate task performs the database backup to S3</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Restore Validation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Successful restore verified: 8 tables, 4 member records, 8 product records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Post-Teardown Evidence</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Application and VPC flow logs preserved after dev infrastructure teardown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bl>
          </a:graphicData>
        </a:graphic>
      </p:graphicFrame>
      <p:sp>
        <p:nvSpPr>
          <p:cNvPr id="5" name="Text 2"/>
          <p:cNvSpPr txBox="1"/>
          <p:nvPr/>
        </p:nvSpPr>
        <p:spPr>
          <a:xfrm>
            <a:off x="548640" y="6263640"/>
            <a:ext cx="11094415" cy="320040"/>
          </a:xfrm>
          <a:prstGeom prst="rect">
            <a:avLst/>
          </a:prstGeom>
          <a:noFill/>
          <a:ln/>
        </p:spPr>
        <p:txBody>
          <a:bodyPr wrap="square" rtlCol="0" anchor="ctr"/>
          <a:lstStyle/>
          <a:p>
            <a:pPr indent="0" marL="0">
              <a:buNone/>
            </a:pPr>
            <a:r>
              <a:rPr lang="en-US" sz="1100" i="1" dirty="0">
                <a:solidFill>
                  <a:srgbClr val="51607A"/>
                </a:solidFill>
                <a:latin typeface="Calibri" pitchFamily="34" charset="0"/>
                <a:ea typeface="Calibri" pitchFamily="34" charset="-122"/>
                <a:cs typeface="Calibri" pitchFamily="34" charset="-120"/>
              </a:rPr>
              <a:t>RDS automated backups remain primary. EventBridge Scheduler runs the portable Fargate SQL backup daily; S3 is the tested secondary recovery copy.</a:t>
            </a:r>
            <a:endParaRPr lang="en-US" sz="1100" dirty="0"/>
          </a:p>
        </p:txBody>
      </p:sp>
      <p:sp>
        <p:nvSpPr>
          <p:cNvPr id="6" name="Text 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TRADE-OFFS</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Engineering Decisions &amp; Trade-offs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4206240"/>
        </p:xfrm>
        <a:graphic>
          <a:graphicData uri="http://schemas.openxmlformats.org/drawingml/2006/table">
            <a:tbl>
              <a:tblPr/>
              <a:tblGrid>
                <a:gridCol w="4572000"/>
                <a:gridCol w="6522415"/>
              </a:tblGrid>
              <a:tr h="701040">
                <a:tc>
                  <a:txBody>
                    <a:bodyPr/>
                    <a:lstStyle/>
                    <a:p>
                      <a:pPr indent="0" marL="0">
                        <a:buNone/>
                      </a:pPr>
                      <a:r>
                        <a:rPr lang="en-US" sz="1250" b="1" dirty="0">
                          <a:solidFill>
                            <a:srgbClr val="FFFFFF"/>
                          </a:solidFill>
                        </a:rPr>
                        <a:t>Decision</a:t>
                      </a:r>
                      <a:endParaRPr lang="en-US" sz="125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c>
                  <a:txBody>
                    <a:bodyPr/>
                    <a:lstStyle/>
                    <a:p>
                      <a:pPr indent="0" marL="0">
                        <a:buNone/>
                      </a:pPr>
                      <a:r>
                        <a:rPr lang="en-US" sz="1250" b="1" dirty="0">
                          <a:solidFill>
                            <a:srgbClr val="FFFFFF"/>
                          </a:solidFill>
                        </a:rPr>
                        <a:t>Rationale / Trade-off</a:t>
                      </a:r>
                      <a:endParaRPr lang="en-US" sz="125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r>
              <a:tr h="701040">
                <a:tc>
                  <a:txBody>
                    <a:bodyPr/>
                    <a:lstStyle/>
                    <a:p>
                      <a:pPr indent="0" marL="0">
                        <a:buNone/>
                      </a:pPr>
                      <a:r>
                        <a:rPr lang="en-US" sz="1200" b="1" dirty="0">
                          <a:solidFill>
                            <a:srgbClr val="1B2A4A"/>
                          </a:solidFill>
                        </a:rPr>
                        <a:t>ECS Fargate replaced the initial EKS proposal</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Reduced cost and operational complexity for a single service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Kubernetes &amp; Kustomize retained</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Kept for local portability and CI policy scanning, not cloud deployment</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S3 archive uses independent Terraform state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Persists evidence independently of environment lifecycle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Dev used HTTP temporarily</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Production requires a domain, ACM certificate, and HTTPS</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Backup &amp; log archival scripts are manually triggered</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Scheduling automation is future work</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bl>
          </a:graphicData>
        </a:graphic>
      </p:graphicFrame>
      <p:sp>
        <p:nvSpPr>
          <p:cNvPr id="5" name="Text 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OUTCOMES</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Results &amp; Lessons Learned</a:t>
            </a:r>
            <a:endParaRPr lang="en-US" sz="3200" dirty="0"/>
          </a:p>
        </p:txBody>
      </p:sp>
      <p:sp>
        <p:nvSpPr>
          <p:cNvPr id="4" name="Shape 2"/>
          <p:cNvSpPr/>
          <p:nvPr/>
        </p:nvSpPr>
        <p:spPr>
          <a:xfrm>
            <a:off x="548640" y="1737360"/>
            <a:ext cx="5364328" cy="941832"/>
          </a:xfrm>
          <a:prstGeom prst="roundRect">
            <a:avLst>
              <a:gd name="adj" fmla="val 9709"/>
            </a:avLst>
          </a:prstGeom>
          <a:solidFill>
            <a:srgbClr val="EAF0F8"/>
          </a:solidFill>
          <a:ln/>
        </p:spPr>
      </p:sp>
      <p:sp>
        <p:nvSpPr>
          <p:cNvPr id="5" name="Shape 3"/>
          <p:cNvSpPr/>
          <p:nvPr/>
        </p:nvSpPr>
        <p:spPr>
          <a:xfrm>
            <a:off x="749808" y="2025396"/>
            <a:ext cx="365760" cy="365760"/>
          </a:xfrm>
          <a:prstGeom prst="ellipse">
            <a:avLst/>
          </a:prstGeom>
          <a:solidFill>
            <a:srgbClr val="2BAE66"/>
          </a:solidFill>
          <a:ln/>
        </p:spPr>
      </p:sp>
      <p:sp>
        <p:nvSpPr>
          <p:cNvPr id="6" name="Text 4"/>
          <p:cNvSpPr txBox="1"/>
          <p:nvPr/>
        </p:nvSpPr>
        <p:spPr>
          <a:xfrm>
            <a:off x="749808" y="20253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280160" y="1737360"/>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Repeatable infrastructure via modular Terraform</a:t>
            </a:r>
            <a:endParaRPr lang="en-US" sz="1300" dirty="0"/>
          </a:p>
        </p:txBody>
      </p:sp>
      <p:sp>
        <p:nvSpPr>
          <p:cNvPr id="8" name="Shape 6"/>
          <p:cNvSpPr/>
          <p:nvPr/>
        </p:nvSpPr>
        <p:spPr>
          <a:xfrm>
            <a:off x="6278728" y="1737360"/>
            <a:ext cx="5364328" cy="941832"/>
          </a:xfrm>
          <a:prstGeom prst="roundRect">
            <a:avLst>
              <a:gd name="adj" fmla="val 9709"/>
            </a:avLst>
          </a:prstGeom>
          <a:solidFill>
            <a:srgbClr val="EAF0F8"/>
          </a:solidFill>
          <a:ln/>
        </p:spPr>
      </p:sp>
      <p:sp>
        <p:nvSpPr>
          <p:cNvPr id="9" name="Shape 7"/>
          <p:cNvSpPr/>
          <p:nvPr/>
        </p:nvSpPr>
        <p:spPr>
          <a:xfrm>
            <a:off x="6479896" y="2025396"/>
            <a:ext cx="365760" cy="365760"/>
          </a:xfrm>
          <a:prstGeom prst="ellipse">
            <a:avLst/>
          </a:prstGeom>
          <a:solidFill>
            <a:srgbClr val="2BAE66"/>
          </a:solidFill>
          <a:ln/>
        </p:spPr>
      </p:sp>
      <p:sp>
        <p:nvSpPr>
          <p:cNvPr id="10" name="Text 8"/>
          <p:cNvSpPr txBox="1"/>
          <p:nvPr/>
        </p:nvSpPr>
        <p:spPr>
          <a:xfrm>
            <a:off x="6479896" y="20253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7010248" y="1737360"/>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Approved Terraform automation and CI/CD delivery</a:t>
            </a:r>
            <a:endParaRPr lang="en-US" sz="1300" dirty="0"/>
          </a:p>
        </p:txBody>
      </p:sp>
      <p:sp>
        <p:nvSpPr>
          <p:cNvPr id="12" name="Shape 10"/>
          <p:cNvSpPr/>
          <p:nvPr/>
        </p:nvSpPr>
        <p:spPr>
          <a:xfrm>
            <a:off x="548640" y="2907792"/>
            <a:ext cx="5364328" cy="941832"/>
          </a:xfrm>
          <a:prstGeom prst="roundRect">
            <a:avLst>
              <a:gd name="adj" fmla="val 9709"/>
            </a:avLst>
          </a:prstGeom>
          <a:solidFill>
            <a:srgbClr val="EAF0F8"/>
          </a:solidFill>
          <a:ln/>
        </p:spPr>
      </p:sp>
      <p:sp>
        <p:nvSpPr>
          <p:cNvPr id="13" name="Shape 11"/>
          <p:cNvSpPr/>
          <p:nvPr/>
        </p:nvSpPr>
        <p:spPr>
          <a:xfrm>
            <a:off x="749808" y="3195828"/>
            <a:ext cx="365760" cy="365760"/>
          </a:xfrm>
          <a:prstGeom prst="ellipse">
            <a:avLst/>
          </a:prstGeom>
          <a:solidFill>
            <a:srgbClr val="2BAE66"/>
          </a:solidFill>
          <a:ln/>
        </p:spPr>
      </p:sp>
      <p:sp>
        <p:nvSpPr>
          <p:cNvPr id="14" name="Text 12"/>
          <p:cNvSpPr txBox="1"/>
          <p:nvPr/>
        </p:nvSpPr>
        <p:spPr>
          <a:xfrm>
            <a:off x="749808" y="31958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280160" y="2907792"/>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Layered security validation across the pipeline</a:t>
            </a:r>
            <a:endParaRPr lang="en-US" sz="1300" dirty="0"/>
          </a:p>
        </p:txBody>
      </p:sp>
      <p:sp>
        <p:nvSpPr>
          <p:cNvPr id="16" name="Shape 14"/>
          <p:cNvSpPr/>
          <p:nvPr/>
        </p:nvSpPr>
        <p:spPr>
          <a:xfrm>
            <a:off x="6278728" y="2907792"/>
            <a:ext cx="5364328" cy="941832"/>
          </a:xfrm>
          <a:prstGeom prst="roundRect">
            <a:avLst>
              <a:gd name="adj" fmla="val 9709"/>
            </a:avLst>
          </a:prstGeom>
          <a:solidFill>
            <a:srgbClr val="EAF0F8"/>
          </a:solidFill>
          <a:ln/>
        </p:spPr>
      </p:sp>
      <p:sp>
        <p:nvSpPr>
          <p:cNvPr id="17" name="Shape 15"/>
          <p:cNvSpPr/>
          <p:nvPr/>
        </p:nvSpPr>
        <p:spPr>
          <a:xfrm>
            <a:off x="6479896" y="3195828"/>
            <a:ext cx="365760" cy="365760"/>
          </a:xfrm>
          <a:prstGeom prst="ellipse">
            <a:avLst/>
          </a:prstGeom>
          <a:solidFill>
            <a:srgbClr val="2BAE66"/>
          </a:solidFill>
          <a:ln/>
        </p:spPr>
      </p:sp>
      <p:sp>
        <p:nvSpPr>
          <p:cNvPr id="18" name="Text 16"/>
          <p:cNvSpPr txBox="1"/>
          <p:nvPr/>
        </p:nvSpPr>
        <p:spPr>
          <a:xfrm>
            <a:off x="6479896" y="31958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7010248" y="2907792"/>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Verified application health and autoscaling</a:t>
            </a:r>
            <a:endParaRPr lang="en-US" sz="1300" dirty="0"/>
          </a:p>
        </p:txBody>
      </p:sp>
      <p:sp>
        <p:nvSpPr>
          <p:cNvPr id="20" name="Shape 18"/>
          <p:cNvSpPr/>
          <p:nvPr/>
        </p:nvSpPr>
        <p:spPr>
          <a:xfrm>
            <a:off x="548640" y="4078224"/>
            <a:ext cx="5364328" cy="941832"/>
          </a:xfrm>
          <a:prstGeom prst="roundRect">
            <a:avLst>
              <a:gd name="adj" fmla="val 9709"/>
            </a:avLst>
          </a:prstGeom>
          <a:solidFill>
            <a:srgbClr val="EAF0F8"/>
          </a:solidFill>
          <a:ln/>
        </p:spPr>
      </p:sp>
      <p:sp>
        <p:nvSpPr>
          <p:cNvPr id="21" name="Shape 19"/>
          <p:cNvSpPr/>
          <p:nvPr/>
        </p:nvSpPr>
        <p:spPr>
          <a:xfrm>
            <a:off x="749808" y="4366260"/>
            <a:ext cx="365760" cy="365760"/>
          </a:xfrm>
          <a:prstGeom prst="ellipse">
            <a:avLst/>
          </a:prstGeom>
          <a:solidFill>
            <a:srgbClr val="2BAE66"/>
          </a:solidFill>
          <a:ln/>
        </p:spPr>
      </p:sp>
      <p:sp>
        <p:nvSpPr>
          <p:cNvPr id="22" name="Text 20"/>
          <p:cNvSpPr txBox="1"/>
          <p:nvPr/>
        </p:nvSpPr>
        <p:spPr>
          <a:xfrm>
            <a:off x="749808"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1280160" y="4078224"/>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Tested backup and restore process</a:t>
            </a:r>
            <a:endParaRPr lang="en-US" sz="1300" dirty="0"/>
          </a:p>
        </p:txBody>
      </p:sp>
      <p:sp>
        <p:nvSpPr>
          <p:cNvPr id="24" name="Shape 22"/>
          <p:cNvSpPr/>
          <p:nvPr/>
        </p:nvSpPr>
        <p:spPr>
          <a:xfrm>
            <a:off x="6278728" y="4078224"/>
            <a:ext cx="5364328" cy="941832"/>
          </a:xfrm>
          <a:prstGeom prst="roundRect">
            <a:avLst>
              <a:gd name="adj" fmla="val 9709"/>
            </a:avLst>
          </a:prstGeom>
          <a:solidFill>
            <a:srgbClr val="EAF0F8"/>
          </a:solidFill>
          <a:ln/>
        </p:spPr>
      </p:sp>
      <p:sp>
        <p:nvSpPr>
          <p:cNvPr id="25" name="Shape 23"/>
          <p:cNvSpPr/>
          <p:nvPr/>
        </p:nvSpPr>
        <p:spPr>
          <a:xfrm>
            <a:off x="6479896" y="4366260"/>
            <a:ext cx="365760" cy="365760"/>
          </a:xfrm>
          <a:prstGeom prst="ellipse">
            <a:avLst/>
          </a:prstGeom>
          <a:solidFill>
            <a:srgbClr val="2BAE66"/>
          </a:solidFill>
          <a:ln/>
        </p:spPr>
      </p:sp>
      <p:sp>
        <p:nvSpPr>
          <p:cNvPr id="26" name="Text 24"/>
          <p:cNvSpPr txBox="1"/>
          <p:nvPr/>
        </p:nvSpPr>
        <p:spPr>
          <a:xfrm>
            <a:off x="6479896"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7010248" y="4078224"/>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Persistent state, backups, and evidence retained across teardown</a:t>
            </a:r>
            <a:endParaRPr lang="en-US" sz="1300" dirty="0"/>
          </a:p>
        </p:txBody>
      </p:sp>
      <p:sp>
        <p:nvSpPr>
          <p:cNvPr id="28" name="Shape 26"/>
          <p:cNvSpPr/>
          <p:nvPr/>
        </p:nvSpPr>
        <p:spPr>
          <a:xfrm>
            <a:off x="548640" y="5248656"/>
            <a:ext cx="5364328" cy="941832"/>
          </a:xfrm>
          <a:prstGeom prst="roundRect">
            <a:avLst>
              <a:gd name="adj" fmla="val 9709"/>
            </a:avLst>
          </a:prstGeom>
          <a:solidFill>
            <a:srgbClr val="EAF0F8"/>
          </a:solidFill>
          <a:ln/>
        </p:spPr>
      </p:sp>
      <p:sp>
        <p:nvSpPr>
          <p:cNvPr id="29" name="Shape 27"/>
          <p:cNvSpPr/>
          <p:nvPr/>
        </p:nvSpPr>
        <p:spPr>
          <a:xfrm>
            <a:off x="749808" y="5536692"/>
            <a:ext cx="365760" cy="365760"/>
          </a:xfrm>
          <a:prstGeom prst="ellipse">
            <a:avLst/>
          </a:prstGeom>
          <a:solidFill>
            <a:srgbClr val="2BAE66"/>
          </a:solidFill>
          <a:ln/>
        </p:spPr>
      </p:sp>
      <p:sp>
        <p:nvSpPr>
          <p:cNvPr id="30" name="Text 28"/>
          <p:cNvSpPr txBox="1"/>
          <p:nvPr/>
        </p:nvSpPr>
        <p:spPr>
          <a:xfrm>
            <a:off x="749808" y="55366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1280160" y="5248656"/>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Disciplined review and refinement of AI-generated artifacts</a:t>
            </a:r>
            <a:endParaRPr lang="en-US" sz="1300" dirty="0"/>
          </a:p>
        </p:txBody>
      </p:sp>
      <p:sp>
        <p:nvSpPr>
          <p:cNvPr id="32" name="Text 30"/>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F"/>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rtlCol="0" anchor="ctr"/>
          <a:lstStyle/>
          <a:p>
            <a:pPr indent="0" marL="0">
              <a:buNone/>
            </a:pPr>
            <a:r>
              <a:rPr lang="en-US" sz="1300" b="1" spc="200" kern="0" dirty="0">
                <a:solidFill>
                  <a:srgbClr val="1CA7C9"/>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548640" y="868680"/>
            <a:ext cx="11094415"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Future Improvements &amp; Conclusion</a:t>
            </a:r>
            <a:endParaRPr lang="en-US" sz="3200" dirty="0"/>
          </a:p>
        </p:txBody>
      </p:sp>
      <p:sp>
        <p:nvSpPr>
          <p:cNvPr id="4" name="Shape 2"/>
          <p:cNvSpPr/>
          <p:nvPr/>
        </p:nvSpPr>
        <p:spPr>
          <a:xfrm>
            <a:off x="548640" y="1828800"/>
            <a:ext cx="274320" cy="274320"/>
          </a:xfrm>
          <a:prstGeom prst="ellipse">
            <a:avLst/>
          </a:prstGeom>
          <a:solidFill>
            <a:srgbClr val="1CA7C9"/>
          </a:solidFill>
          <a:ln/>
        </p:spPr>
      </p:sp>
      <p:sp>
        <p:nvSpPr>
          <p:cNvPr id="5" name="Text 3"/>
          <p:cNvSpPr txBox="1"/>
          <p:nvPr/>
        </p:nvSpPr>
        <p:spPr>
          <a:xfrm>
            <a:off x="548640" y="182880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0120" y="175564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Production domain and HTTPS</a:t>
            </a:r>
            <a:endParaRPr lang="en-US" sz="1350" dirty="0"/>
          </a:p>
        </p:txBody>
      </p:sp>
      <p:sp>
        <p:nvSpPr>
          <p:cNvPr id="7" name="Shape 5"/>
          <p:cNvSpPr/>
          <p:nvPr/>
        </p:nvSpPr>
        <p:spPr>
          <a:xfrm>
            <a:off x="548640" y="2331720"/>
            <a:ext cx="274320" cy="274320"/>
          </a:xfrm>
          <a:prstGeom prst="ellipse">
            <a:avLst/>
          </a:prstGeom>
          <a:solidFill>
            <a:srgbClr val="1CA7C9"/>
          </a:solidFill>
          <a:ln/>
        </p:spPr>
      </p:sp>
      <p:sp>
        <p:nvSpPr>
          <p:cNvPr id="8" name="Text 6"/>
          <p:cNvSpPr txBox="1"/>
          <p:nvPr/>
        </p:nvSpPr>
        <p:spPr>
          <a:xfrm>
            <a:off x="548640" y="233172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960120" y="225856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Scheduled log archival and monitoring</a:t>
            </a:r>
            <a:endParaRPr lang="en-US" sz="1350" dirty="0"/>
          </a:p>
        </p:txBody>
      </p:sp>
      <p:sp>
        <p:nvSpPr>
          <p:cNvPr id="10" name="Shape 8"/>
          <p:cNvSpPr/>
          <p:nvPr/>
        </p:nvSpPr>
        <p:spPr>
          <a:xfrm>
            <a:off x="548640" y="2834640"/>
            <a:ext cx="274320" cy="274320"/>
          </a:xfrm>
          <a:prstGeom prst="ellipse">
            <a:avLst/>
          </a:prstGeom>
          <a:solidFill>
            <a:srgbClr val="1CA7C9"/>
          </a:solidFill>
          <a:ln/>
        </p:spPr>
      </p:sp>
      <p:sp>
        <p:nvSpPr>
          <p:cNvPr id="11" name="Text 9"/>
          <p:cNvSpPr txBox="1"/>
          <p:nvPr/>
        </p:nvSpPr>
        <p:spPr>
          <a:xfrm>
            <a:off x="548640" y="283464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960120" y="276148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Approved OWASP ZAP dynamic testing</a:t>
            </a:r>
            <a:endParaRPr lang="en-US" sz="1350" dirty="0"/>
          </a:p>
        </p:txBody>
      </p:sp>
      <p:sp>
        <p:nvSpPr>
          <p:cNvPr id="13" name="Shape 11"/>
          <p:cNvSpPr/>
          <p:nvPr/>
        </p:nvSpPr>
        <p:spPr>
          <a:xfrm>
            <a:off x="548640" y="3337560"/>
            <a:ext cx="274320" cy="274320"/>
          </a:xfrm>
          <a:prstGeom prst="ellipse">
            <a:avLst/>
          </a:prstGeom>
          <a:solidFill>
            <a:srgbClr val="1CA7C9"/>
          </a:solidFill>
          <a:ln/>
        </p:spPr>
      </p:sp>
      <p:sp>
        <p:nvSpPr>
          <p:cNvPr id="14" name="Text 12"/>
          <p:cNvSpPr txBox="1"/>
          <p:nvPr/>
        </p:nvSpPr>
        <p:spPr>
          <a:xfrm>
            <a:off x="548640" y="333756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960120" y="326440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Scheduled database backup and on-demand log archival</a:t>
            </a:r>
            <a:endParaRPr lang="en-US" sz="1350" dirty="0"/>
          </a:p>
        </p:txBody>
      </p:sp>
      <p:sp>
        <p:nvSpPr>
          <p:cNvPr id="16" name="Shape 14"/>
          <p:cNvSpPr/>
          <p:nvPr/>
        </p:nvSpPr>
        <p:spPr>
          <a:xfrm>
            <a:off x="548640" y="3840480"/>
            <a:ext cx="274320" cy="274320"/>
          </a:xfrm>
          <a:prstGeom prst="ellipse">
            <a:avLst/>
          </a:prstGeom>
          <a:solidFill>
            <a:srgbClr val="1CA7C9"/>
          </a:solidFill>
          <a:ln/>
        </p:spPr>
      </p:sp>
      <p:sp>
        <p:nvSpPr>
          <p:cNvPr id="17" name="Text 15"/>
          <p:cNvSpPr txBox="1"/>
          <p:nvPr/>
        </p:nvSpPr>
        <p:spPr>
          <a:xfrm>
            <a:off x="548640" y="384048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960120" y="376732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Production deployment and recovery drill</a:t>
            </a:r>
            <a:endParaRPr lang="en-US" sz="1350" dirty="0"/>
          </a:p>
        </p:txBody>
      </p:sp>
      <p:sp>
        <p:nvSpPr>
          <p:cNvPr id="19" name="Shape 17"/>
          <p:cNvSpPr/>
          <p:nvPr/>
        </p:nvSpPr>
        <p:spPr>
          <a:xfrm>
            <a:off x="548640" y="4343400"/>
            <a:ext cx="274320" cy="274320"/>
          </a:xfrm>
          <a:prstGeom prst="ellipse">
            <a:avLst/>
          </a:prstGeom>
          <a:solidFill>
            <a:srgbClr val="1CA7C9"/>
          </a:solidFill>
          <a:ln/>
        </p:spPr>
      </p:sp>
      <p:sp>
        <p:nvSpPr>
          <p:cNvPr id="20" name="Text 18"/>
          <p:cNvSpPr txBox="1"/>
          <p:nvPr/>
        </p:nvSpPr>
        <p:spPr>
          <a:xfrm>
            <a:off x="548640" y="434340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960120" y="427024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Centralized security monitoring</a:t>
            </a:r>
            <a:endParaRPr lang="en-US" sz="1350" dirty="0"/>
          </a:p>
        </p:txBody>
      </p:sp>
      <p:sp>
        <p:nvSpPr>
          <p:cNvPr id="22" name="Shape 20"/>
          <p:cNvSpPr/>
          <p:nvPr/>
        </p:nvSpPr>
        <p:spPr>
          <a:xfrm>
            <a:off x="548640" y="5257800"/>
            <a:ext cx="11094415" cy="1097280"/>
          </a:xfrm>
          <a:prstGeom prst="roundRect">
            <a:avLst>
              <a:gd name="adj" fmla="val 8333"/>
            </a:avLst>
          </a:prstGeom>
          <a:solidFill>
            <a:srgbClr val="1E3A5F"/>
          </a:solidFill>
          <a:ln/>
        </p:spPr>
      </p:sp>
      <p:sp>
        <p:nvSpPr>
          <p:cNvPr id="23" name="Text 21"/>
          <p:cNvSpPr txBox="1"/>
          <p:nvPr/>
        </p:nvSpPr>
        <p:spPr>
          <a:xfrm>
            <a:off x="914400" y="5257800"/>
            <a:ext cx="10362895" cy="1097280"/>
          </a:xfrm>
          <a:prstGeom prst="rect">
            <a:avLst/>
          </a:prstGeom>
          <a:noFill/>
          <a:ln/>
        </p:spPr>
        <p:txBody>
          <a:bodyPr wrap="square"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A secure, automated, evidence-backed foundation — validated end to end and ready to extend toward production.</a:t>
            </a:r>
            <a:endParaRPr lang="en-US" sz="1600" dirty="0"/>
          </a:p>
        </p:txBody>
      </p:sp>
      <p:sp>
        <p:nvSpPr>
          <p:cNvPr id="24" name="Text 2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2026-09-18T19:46:41Z</dcterms:created>
  <dcterms:modified xsi:type="dcterms:W3CDTF">2026-09-18T19:46:41Z</dcterms:modified>
</cp:coreProperties>
</file>